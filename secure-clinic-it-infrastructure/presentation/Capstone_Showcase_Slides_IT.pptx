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6858000" cx="12192000"/>
  <p:notesSz cx="6858000" cy="12192000"/>
  <p:embeddedFontLst>
    <p:embeddedFont>
      <p:font typeface="Proxima Nova"/>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F660E14-4D37-4B3D-BAE7-387CE4842765}">
  <a:tblStyle styleId="{4F660E14-4D37-4B3D-BAE7-387CE4842765}"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a:tcStyle>
        <a:fill>
          <a:solidFill>
            <a:srgbClr val="CDD4EA"/>
          </a:solidFill>
        </a:fill>
      </a:tcStyle>
    </a:band1H>
    <a:band2H>
      <a:tcTxStyle/>
    </a:band2H>
    <a:band1V>
      <a:tcTxStyle/>
      <a:tcStyle>
        <a:fill>
          <a:solidFill>
            <a:srgbClr val="CDD4EA"/>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1D6719D4-AE72-4BA9-9851-CEC03C859523}"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font" Target="fonts/ProximaNova-italic.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ProximaNova-boldItalic.fntdata"/><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font" Target="fonts/ProximaNova-bold.fntdata"/><Relationship Id="rId6" Type="http://schemas.openxmlformats.org/officeDocument/2006/relationships/slide" Target="slides/slide1.xml"/><Relationship Id="rId18" Type="http://schemas.openxmlformats.org/officeDocument/2006/relationships/font" Target="fonts/ProximaNova-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 name="Shape 10"/>
        <p:cNvGrpSpPr/>
        <p:nvPr/>
      </p:nvGrpSpPr>
      <p:grpSpPr>
        <a:xfrm>
          <a:off x="0" y="0"/>
          <a:ext cx="0" cy="0"/>
          <a:chOff x="0" y="0"/>
          <a:chExt cx="0" cy="0"/>
        </a:xfrm>
      </p:grpSpPr>
      <p:sp>
        <p:nvSpPr>
          <p:cNvPr id="11" name="Google Shape;1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 name="Google Shape;1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13" name="Google Shape;13;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 name="Google Shape;2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22" name="Google Shape;22;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 name="Google Shape;2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End the 3-minute intro here; hand off to the demo driver.</a:t>
            </a:r>
            <a:endParaRPr/>
          </a:p>
        </p:txBody>
      </p:sp>
      <p:sp>
        <p:nvSpPr>
          <p:cNvPr id="30" name="Google Shape;30;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0" name="Google Shape;40;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7" name="Google Shape;47;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8" name="Google Shape;58;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 name="Google Shape;66;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67" name="Google Shape;67;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 name="Google Shape;76;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77" name="Google Shape;77;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85" name="Google Shape;85;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96" name="Google Shape;96;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05" name="Google Shape;105;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a:p>
        </p:txBody>
      </p:sp>
      <p:sp>
        <p:nvSpPr>
          <p:cNvPr id="112" name="Google Shape;11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p:cSld name="LIGHT">
    <p:bg>
      <p:bgPr>
        <a:solidFill>
          <a:srgbClr val="FFFFFF"/>
        </a:solidFill>
      </p:bgPr>
    </p:bg>
    <p:spTree>
      <p:nvGrpSpPr>
        <p:cNvPr id="7" name="Shape 7"/>
        <p:cNvGrpSpPr/>
        <p:nvPr/>
      </p:nvGrpSpPr>
      <p:grpSpPr>
        <a:xfrm>
          <a:off x="0" y="0"/>
          <a:ext cx="0" cy="0"/>
          <a:chOff x="0" y="0"/>
          <a:chExt cx="0" cy="0"/>
        </a:xfrm>
      </p:grpSpPr>
      <p:pic>
        <p:nvPicPr>
          <p:cNvPr descr="assets/FIU_wordmark_horizontal_navy.png" id="8" name="Google Shape;8;p3"/>
          <p:cNvPicPr preferRelativeResize="0"/>
          <p:nvPr/>
        </p:nvPicPr>
        <p:blipFill rotWithShape="1">
          <a:blip r:embed="rId2">
            <a:alphaModFix/>
          </a:blip>
          <a:srcRect b="0" l="0" r="0" t="0"/>
          <a:stretch/>
        </p:blipFill>
        <p:spPr>
          <a:xfrm>
            <a:off x="10561320" y="6419088"/>
            <a:ext cx="1325880" cy="393786"/>
          </a:xfrm>
          <a:prstGeom prst="rect">
            <a:avLst/>
          </a:prstGeom>
          <a:noFill/>
          <a:ln>
            <a:noFill/>
          </a:ln>
        </p:spPr>
      </p:pic>
      <p:sp>
        <p:nvSpPr>
          <p:cNvPr id="9" name="Google Shape;9;p3"/>
          <p:cNvSpPr/>
          <p:nvPr/>
        </p:nvSpPr>
        <p:spPr>
          <a:xfrm>
            <a:off x="320040" y="6455664"/>
            <a:ext cx="54864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667E"/>
              </a:buClr>
              <a:buSzPts val="900"/>
              <a:buFont typeface="Arial"/>
              <a:buNone/>
            </a:pPr>
            <a:r>
              <a:rPr lang="en-US" sz="900">
                <a:solidFill>
                  <a:srgbClr val="5B667E"/>
                </a:solidFill>
                <a:latin typeface="Arial"/>
                <a:ea typeface="Arial"/>
                <a:cs typeface="Arial"/>
                <a:sym typeface="Arial"/>
              </a:rPr>
              <a:t>‹Project› · IT · SU26 Showcase</a:t>
            </a:r>
            <a:endParaRPr sz="900">
              <a:solidFill>
                <a:schemeClr val="dk1"/>
              </a:solidFill>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youtu.be/jxOTyCcKHVg" TargetMode="External"/><Relationship Id="rId4" Type="http://schemas.openxmlformats.org/officeDocument/2006/relationships/image" Target="../media/image2.jpg"/><Relationship Id="rId5"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E3F"/>
        </a:solidFill>
      </p:bgPr>
    </p:bg>
    <p:spTree>
      <p:nvGrpSpPr>
        <p:cNvPr id="14" name="Shape 14"/>
        <p:cNvGrpSpPr/>
        <p:nvPr/>
      </p:nvGrpSpPr>
      <p:grpSpPr>
        <a:xfrm>
          <a:off x="0" y="0"/>
          <a:ext cx="0" cy="0"/>
          <a:chOff x="0" y="0"/>
          <a:chExt cx="0" cy="0"/>
        </a:xfrm>
      </p:grpSpPr>
      <p:pic>
        <p:nvPicPr>
          <p:cNvPr descr="assets/FIU_wordmark_horizontal_white.png" id="15" name="Google Shape;15;p4"/>
          <p:cNvPicPr preferRelativeResize="0"/>
          <p:nvPr/>
        </p:nvPicPr>
        <p:blipFill rotWithShape="1">
          <a:blip r:embed="rId3">
            <a:alphaModFix/>
          </a:blip>
          <a:srcRect b="0" l="0" r="0" t="0"/>
          <a:stretch/>
        </p:blipFill>
        <p:spPr>
          <a:xfrm>
            <a:off x="502920" y="457200"/>
            <a:ext cx="2011680" cy="597469"/>
          </a:xfrm>
          <a:prstGeom prst="rect">
            <a:avLst/>
          </a:prstGeom>
          <a:noFill/>
          <a:ln>
            <a:noFill/>
          </a:ln>
        </p:spPr>
      </p:pic>
      <p:sp>
        <p:nvSpPr>
          <p:cNvPr id="16" name="Google Shape;16;p4"/>
          <p:cNvSpPr/>
          <p:nvPr/>
        </p:nvSpPr>
        <p:spPr>
          <a:xfrm>
            <a:off x="502920" y="2286000"/>
            <a:ext cx="11155680" cy="1280160"/>
          </a:xfrm>
          <a:prstGeom prst="rect">
            <a:avLst/>
          </a:prstGeom>
          <a:noFill/>
          <a:ln>
            <a:noFill/>
          </a:ln>
        </p:spPr>
        <p:txBody>
          <a:bodyPr anchorCtr="0" anchor="ctr" bIns="0" lIns="0" spcFirstLastPara="1" rIns="0" wrap="square" tIns="0">
            <a:noAutofit/>
          </a:bodyPr>
          <a:lstStyle/>
          <a:p>
            <a:pPr indent="0" lvl="0" marL="0" marR="0" rtl="0" algn="l">
              <a:lnSpc>
                <a:spcPct val="80000"/>
              </a:lnSpc>
              <a:spcBef>
                <a:spcPts val="0"/>
              </a:spcBef>
              <a:spcAft>
                <a:spcPts val="0"/>
              </a:spcAft>
              <a:buClr>
                <a:srgbClr val="FFFFFF"/>
              </a:buClr>
              <a:buSzPts val="3780"/>
              <a:buFont typeface="Arial"/>
              <a:buNone/>
            </a:pPr>
            <a:r>
              <a:rPr b="1" i="0" lang="en-US" sz="3780" u="none" cap="none" strike="noStrike">
                <a:solidFill>
                  <a:srgbClr val="FFFFFF"/>
                </a:solidFill>
                <a:latin typeface="Arial"/>
                <a:ea typeface="Arial"/>
                <a:cs typeface="Arial"/>
                <a:sym typeface="Arial"/>
              </a:rPr>
              <a:t>Secure Clinic IT Infrastructure: Implementation, Deployment, and Security Validation</a:t>
            </a:r>
            <a:endParaRPr b="0" i="0" sz="3780" u="none" cap="none" strike="noStrike">
              <a:solidFill>
                <a:schemeClr val="dk1"/>
              </a:solidFill>
              <a:latin typeface="Calibri"/>
              <a:ea typeface="Calibri"/>
              <a:cs typeface="Calibri"/>
              <a:sym typeface="Calibri"/>
            </a:endParaRPr>
          </a:p>
        </p:txBody>
      </p:sp>
      <p:sp>
        <p:nvSpPr>
          <p:cNvPr id="17" name="Google Shape;17;p4"/>
          <p:cNvSpPr/>
          <p:nvPr/>
        </p:nvSpPr>
        <p:spPr>
          <a:xfrm>
            <a:off x="502920" y="3611880"/>
            <a:ext cx="11155680" cy="54864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D1A644"/>
              </a:buClr>
              <a:buSzPts val="2000"/>
              <a:buFont typeface="Arial"/>
              <a:buNone/>
            </a:pPr>
            <a:r>
              <a:rPr b="0" i="0" lang="en-US" sz="2000" u="none" cap="none" strike="noStrike">
                <a:solidFill>
                  <a:srgbClr val="D1A644"/>
                </a:solidFill>
                <a:latin typeface="Arial"/>
                <a:ea typeface="Arial"/>
                <a:cs typeface="Arial"/>
                <a:sym typeface="Arial"/>
              </a:rPr>
              <a:t>Provides a secure, Azure-based IT infrastructure that protects healthcare data and enables safe, reliable access for small healthcare clinics.</a:t>
            </a:r>
            <a:endParaRPr b="0" i="0" sz="2000" u="none" cap="none" strike="noStrike">
              <a:solidFill>
                <a:schemeClr val="dk1"/>
              </a:solidFill>
              <a:latin typeface="Calibri"/>
              <a:ea typeface="Calibri"/>
              <a:cs typeface="Calibri"/>
              <a:sym typeface="Calibri"/>
            </a:endParaRPr>
          </a:p>
        </p:txBody>
      </p:sp>
      <p:sp>
        <p:nvSpPr>
          <p:cNvPr id="18" name="Google Shape;18;p4"/>
          <p:cNvSpPr/>
          <p:nvPr/>
        </p:nvSpPr>
        <p:spPr>
          <a:xfrm>
            <a:off x="502920" y="4846320"/>
            <a:ext cx="1115568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500"/>
              <a:buFont typeface="Arial"/>
              <a:buNone/>
            </a:pPr>
            <a:r>
              <a:rPr b="0" i="0" lang="en-US" sz="1500" u="none" cap="none" strike="noStrike">
                <a:solidFill>
                  <a:srgbClr val="CADCFC"/>
                </a:solidFill>
                <a:latin typeface="Arial"/>
                <a:ea typeface="Arial"/>
                <a:cs typeface="Arial"/>
                <a:sym typeface="Arial"/>
              </a:rPr>
              <a:t>Team members — Justin Barroso, Demetrius Smith, Sonali Mohammed, Santiago Ferreira Rolon, David Alonso</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500"/>
              <a:buFont typeface="Arial"/>
              <a:buNone/>
            </a:pPr>
            <a:r>
              <a:rPr b="0" i="0" lang="en-US" sz="1500" u="none" cap="none" strike="noStrike">
                <a:solidFill>
                  <a:srgbClr val="CADCFC"/>
                </a:solidFill>
                <a:latin typeface="Arial"/>
                <a:ea typeface="Arial"/>
                <a:cs typeface="Arial"/>
                <a:sym typeface="Arial"/>
              </a:rPr>
              <a:t> Instructor: Prof. Masoud Sadjadi</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500"/>
              <a:buFont typeface="Arial"/>
              <a:buNone/>
            </a:pPr>
            <a:r>
              <a:rPr b="0" i="0" lang="en-US" sz="1500" u="none" cap="none" strike="noStrike">
                <a:solidFill>
                  <a:srgbClr val="CADCFC"/>
                </a:solidFill>
                <a:latin typeface="Arial"/>
                <a:ea typeface="Arial"/>
                <a:cs typeface="Arial"/>
                <a:sym typeface="Arial"/>
              </a:rPr>
              <a:t>Information Technology · Capstone 2 · Summer 2026 Virtual Showcase · FIU KFSCIS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5"/>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The Team</a:t>
            </a:r>
            <a:endParaRPr sz="3200">
              <a:solidFill>
                <a:schemeClr val="dk1"/>
              </a:solidFill>
              <a:latin typeface="Calibri"/>
              <a:ea typeface="Calibri"/>
              <a:cs typeface="Calibri"/>
              <a:sym typeface="Calibri"/>
            </a:endParaRPr>
          </a:p>
        </p:txBody>
      </p:sp>
      <p:sp>
        <p:nvSpPr>
          <p:cNvPr id="25" name="Google Shape;25;p5"/>
          <p:cNvSpPr/>
          <p:nvPr/>
        </p:nvSpPr>
        <p:spPr>
          <a:xfrm>
            <a:off x="518157" y="1246845"/>
            <a:ext cx="11155800" cy="4206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67E"/>
              </a:buClr>
              <a:buSzPts val="1500"/>
              <a:buFont typeface="Arial"/>
              <a:buNone/>
            </a:pPr>
            <a:r>
              <a:rPr i="1" lang="en-US" sz="1500">
                <a:solidFill>
                  <a:srgbClr val="5B667E"/>
                </a:solidFill>
                <a:latin typeface="Arial"/>
                <a:ea typeface="Arial"/>
                <a:cs typeface="Arial"/>
                <a:sym typeface="Arial"/>
              </a:rPr>
              <a:t> </a:t>
            </a:r>
            <a:endParaRPr/>
          </a:p>
          <a:p>
            <a:pPr indent="0" lvl="0" marL="0" marR="0" rtl="0" algn="l">
              <a:spcBef>
                <a:spcPts val="0"/>
              </a:spcBef>
              <a:spcAft>
                <a:spcPts val="0"/>
              </a:spcAft>
              <a:buClr>
                <a:schemeClr val="dk1"/>
              </a:buClr>
              <a:buSzPts val="1500"/>
              <a:buFont typeface="Calibri"/>
              <a:buNone/>
            </a:pPr>
            <a:r>
              <a:t/>
            </a:r>
            <a:endParaRPr i="1" sz="1500">
              <a:solidFill>
                <a:srgbClr val="5B667E"/>
              </a:solidFill>
              <a:latin typeface="Arial"/>
              <a:ea typeface="Arial"/>
              <a:cs typeface="Arial"/>
              <a:sym typeface="Arial"/>
            </a:endParaRPr>
          </a:p>
          <a:p>
            <a:pPr indent="0" lvl="0" marL="0" marR="0" rtl="0" algn="l">
              <a:spcBef>
                <a:spcPts val="0"/>
              </a:spcBef>
              <a:spcAft>
                <a:spcPts val="0"/>
              </a:spcAft>
              <a:buClr>
                <a:schemeClr val="dk1"/>
              </a:buClr>
              <a:buSzPts val="1500"/>
              <a:buFont typeface="Calibri"/>
              <a:buNone/>
            </a:pPr>
            <a:r>
              <a:t/>
            </a:r>
            <a:endParaRPr sz="1500">
              <a:solidFill>
                <a:schemeClr val="dk1"/>
              </a:solidFill>
              <a:latin typeface="Calibri"/>
              <a:ea typeface="Calibri"/>
              <a:cs typeface="Calibri"/>
              <a:sym typeface="Calibri"/>
            </a:endParaRPr>
          </a:p>
        </p:txBody>
      </p:sp>
      <p:graphicFrame>
        <p:nvGraphicFramePr>
          <p:cNvPr id="26" name="Google Shape;26;p5"/>
          <p:cNvGraphicFramePr/>
          <p:nvPr/>
        </p:nvGraphicFramePr>
        <p:xfrm>
          <a:off x="673295" y="1377673"/>
          <a:ext cx="3000000" cy="3000000"/>
        </p:xfrm>
        <a:graphic>
          <a:graphicData uri="http://schemas.openxmlformats.org/drawingml/2006/table">
            <a:tbl>
              <a:tblPr>
                <a:noFill/>
                <a:tableStyleId>{4F660E14-4D37-4B3D-BAE7-387CE4842765}</a:tableStyleId>
              </a:tblPr>
              <a:tblGrid>
                <a:gridCol w="2091325"/>
                <a:gridCol w="2153375"/>
                <a:gridCol w="2296950"/>
                <a:gridCol w="1794475"/>
              </a:tblGrid>
              <a:tr h="1076525">
                <a:tc>
                  <a:txBody>
                    <a:bodyPr/>
                    <a:lstStyle/>
                    <a:p>
                      <a:pPr indent="0" lvl="0" marL="0" marR="0" rtl="0" algn="l">
                        <a:spcBef>
                          <a:spcPts val="0"/>
                        </a:spcBef>
                        <a:spcAft>
                          <a:spcPts val="0"/>
                        </a:spcAft>
                        <a:buClr>
                          <a:schemeClr val="dk1"/>
                        </a:buClr>
                        <a:buSzPts val="2000"/>
                        <a:buFont typeface="Calibri"/>
                        <a:buNone/>
                      </a:pPr>
                      <a:r>
                        <a:rPr lang="en-US" sz="2000" u="none" cap="none" strike="noStrike"/>
                        <a:t>Name</a:t>
                      </a:r>
                      <a:endParaRPr sz="20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2000"/>
                        <a:buFont typeface="Calibri"/>
                        <a:buNone/>
                      </a:pPr>
                      <a:r>
                        <a:rPr lang="en-US" sz="2000" u="none" cap="none" strike="noStrike"/>
                        <a:t>Role</a:t>
                      </a:r>
                      <a:endParaRPr sz="20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2000"/>
                        <a:buFont typeface="Calibri"/>
                        <a:buNone/>
                      </a:pPr>
                      <a:r>
                        <a:rPr lang="en-US" sz="2000" u="none" cap="none" strike="noStrike"/>
                        <a:t>Email</a:t>
                      </a:r>
                      <a:endParaRPr sz="20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rgbClr val="1A1A1A"/>
                        </a:buClr>
                        <a:buSzPts val="2000"/>
                        <a:buFont typeface="Calibri"/>
                        <a:buNone/>
                      </a:pPr>
                      <a:r>
                        <a:rPr lang="en-US" sz="2000" u="none" cap="none" strike="noStrike">
                          <a:solidFill>
                            <a:srgbClr val="1A1A1A"/>
                          </a:solidFill>
                          <a:latin typeface="Calibri"/>
                          <a:ea typeface="Calibri"/>
                          <a:cs typeface="Calibri"/>
                          <a:sym typeface="Calibri"/>
                        </a:rPr>
                        <a:t>Presentation Topic </a:t>
                      </a:r>
                      <a:endParaRPr/>
                    </a:p>
                  </a:txBody>
                  <a:tcPr marT="63500" marB="63500" marR="76200" marL="76200" anchor="ctr"/>
                </a:tc>
              </a:tr>
              <a:tr h="336375">
                <a:tc>
                  <a:txBody>
                    <a:bodyPr/>
                    <a:lstStyle/>
                    <a:p>
                      <a:pPr indent="0" lvl="0" marL="0" marR="0" rtl="0" algn="l">
                        <a:spcBef>
                          <a:spcPts val="0"/>
                        </a:spcBef>
                        <a:spcAft>
                          <a:spcPts val="0"/>
                        </a:spcAft>
                        <a:buClr>
                          <a:schemeClr val="dk1"/>
                        </a:buClr>
                        <a:buSzPts val="1000"/>
                        <a:buFont typeface="Calibri"/>
                        <a:buNone/>
                      </a:pPr>
                      <a:r>
                        <a:rPr lang="en-US" sz="1200" u="none" cap="none" strike="noStrike"/>
                        <a:t>Sonali Mohammed</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Team Lead </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smoha094@fiu.edu</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rtl="0" algn="l">
                        <a:lnSpc>
                          <a:spcPct val="115000"/>
                        </a:lnSpc>
                        <a:spcBef>
                          <a:spcPts val="1800"/>
                        </a:spcBef>
                        <a:spcAft>
                          <a:spcPts val="400"/>
                        </a:spcAft>
                        <a:buClr>
                          <a:schemeClr val="dk1"/>
                        </a:buClr>
                        <a:buSzPts val="1100"/>
                        <a:buFont typeface="Arial"/>
                        <a:buNone/>
                      </a:pPr>
                      <a:r>
                        <a:rPr lang="en-US" sz="1200"/>
                        <a:t>Introduction, Team, Problem</a:t>
                      </a:r>
                      <a:endParaRPr sz="1200" u="none" cap="none" strike="noStrike">
                        <a:solidFill>
                          <a:srgbClr val="1A1A1A"/>
                        </a:solidFill>
                      </a:endParaRPr>
                    </a:p>
                  </a:txBody>
                  <a:tcPr marT="63500" marB="63500" marR="76200" marL="76200" anchor="ctr"/>
                </a:tc>
              </a:tr>
              <a:tr h="492950">
                <a:tc>
                  <a:txBody>
                    <a:bodyPr/>
                    <a:lstStyle/>
                    <a:p>
                      <a:pPr indent="0" lvl="0" marL="0" marR="0" rtl="0" algn="l">
                        <a:spcBef>
                          <a:spcPts val="0"/>
                        </a:spcBef>
                        <a:spcAft>
                          <a:spcPts val="0"/>
                        </a:spcAft>
                        <a:buClr>
                          <a:schemeClr val="dk1"/>
                        </a:buClr>
                        <a:buSzPts val="1000"/>
                        <a:buFont typeface="Calibri"/>
                        <a:buNone/>
                      </a:pPr>
                      <a:r>
                        <a:rPr lang="en-US" sz="1200" u="none" cap="none" strike="noStrike"/>
                        <a:t>Justin Barroso</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Identity &amp; Access Management </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jbarr327@fiu.edu</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rtl="0" algn="l">
                        <a:lnSpc>
                          <a:spcPct val="115000"/>
                        </a:lnSpc>
                        <a:spcBef>
                          <a:spcPts val="1800"/>
                        </a:spcBef>
                        <a:spcAft>
                          <a:spcPts val="400"/>
                        </a:spcAft>
                        <a:buClr>
                          <a:schemeClr val="dk1"/>
                        </a:buClr>
                        <a:buSzPts val="1100"/>
                        <a:buFont typeface="Arial"/>
                        <a:buNone/>
                      </a:pPr>
                      <a:r>
                        <a:rPr lang="en-US" sz="1200"/>
                        <a:t>Stakeholders &amp; Solution</a:t>
                      </a:r>
                      <a:endParaRPr sz="1200" u="none" cap="none" strike="noStrike">
                        <a:solidFill>
                          <a:srgbClr val="1A1A1A"/>
                        </a:solidFill>
                      </a:endParaRPr>
                    </a:p>
                  </a:txBody>
                  <a:tcPr marT="63500" marB="63500" marR="76200" marL="76200" anchor="ctr"/>
                </a:tc>
              </a:tr>
              <a:tr h="492950">
                <a:tc>
                  <a:txBody>
                    <a:bodyPr/>
                    <a:lstStyle/>
                    <a:p>
                      <a:pPr indent="0" lvl="0" marL="0" marR="0" rtl="0" algn="l">
                        <a:spcBef>
                          <a:spcPts val="0"/>
                        </a:spcBef>
                        <a:spcAft>
                          <a:spcPts val="0"/>
                        </a:spcAft>
                        <a:buClr>
                          <a:schemeClr val="dk1"/>
                        </a:buClr>
                        <a:buSzPts val="1000"/>
                        <a:buFont typeface="Calibri"/>
                        <a:buNone/>
                      </a:pPr>
                      <a:r>
                        <a:rPr lang="en-US" sz="1200" u="none" cap="none" strike="noStrike"/>
                        <a:t>Demetrius Smith</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Infrastructure &amp; Testing </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dsmit332@fiu.edu</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rtl="0" algn="l">
                        <a:lnSpc>
                          <a:spcPct val="115000"/>
                        </a:lnSpc>
                        <a:spcBef>
                          <a:spcPts val="1800"/>
                        </a:spcBef>
                        <a:spcAft>
                          <a:spcPts val="400"/>
                        </a:spcAft>
                        <a:buClr>
                          <a:schemeClr val="dk1"/>
                        </a:buClr>
                        <a:buSzPts val="1100"/>
                        <a:buFont typeface="Arial"/>
                        <a:buNone/>
                      </a:pPr>
                      <a:r>
                        <a:rPr lang="en-US" sz="1200"/>
                        <a:t>Architecture &amp; Live Demo</a:t>
                      </a:r>
                      <a:endParaRPr sz="1200" u="none" cap="none" strike="noStrike">
                        <a:solidFill>
                          <a:srgbClr val="1A1A1A"/>
                        </a:solidFill>
                      </a:endParaRPr>
                    </a:p>
                  </a:txBody>
                  <a:tcPr marT="63500" marB="63500" marR="76200" marL="76200" anchor="ctr"/>
                </a:tc>
              </a:tr>
              <a:tr h="840900">
                <a:tc>
                  <a:txBody>
                    <a:bodyPr/>
                    <a:lstStyle/>
                    <a:p>
                      <a:pPr indent="0" lvl="0" marL="0" marR="0" rtl="0" algn="l">
                        <a:spcBef>
                          <a:spcPts val="0"/>
                        </a:spcBef>
                        <a:spcAft>
                          <a:spcPts val="0"/>
                        </a:spcAft>
                        <a:buClr>
                          <a:schemeClr val="dk1"/>
                        </a:buClr>
                        <a:buSzPts val="1000"/>
                        <a:buFont typeface="Calibri"/>
                        <a:buNone/>
                      </a:pPr>
                      <a:r>
                        <a:rPr lang="en-US" sz="1200" u="none" cap="none" strike="noStrike"/>
                        <a:t>Santiago Ferreira Rolon</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Project Coordinator </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Sferr109@fiu.edu</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 </a:t>
                      </a:r>
                      <a:r>
                        <a:rPr lang="en-US" sz="1200"/>
                        <a:t>Future Work &amp; Closing</a:t>
                      </a:r>
                      <a:endParaRPr sz="1200" u="none" cap="none" strike="noStrike">
                        <a:solidFill>
                          <a:srgbClr val="1A1A1A"/>
                        </a:solidFill>
                      </a:endParaRPr>
                    </a:p>
                  </a:txBody>
                  <a:tcPr marT="63500" marB="63500" marR="76200" marL="76200" anchor="ctr"/>
                </a:tc>
              </a:tr>
              <a:tr h="666925">
                <a:tc>
                  <a:txBody>
                    <a:bodyPr/>
                    <a:lstStyle/>
                    <a:p>
                      <a:pPr indent="0" lvl="0" marL="0" marR="0" rtl="0" algn="l">
                        <a:spcBef>
                          <a:spcPts val="0"/>
                        </a:spcBef>
                        <a:spcAft>
                          <a:spcPts val="0"/>
                        </a:spcAft>
                        <a:buClr>
                          <a:schemeClr val="dk1"/>
                        </a:buClr>
                        <a:buSzPts val="1000"/>
                        <a:buFont typeface="Calibri"/>
                        <a:buNone/>
                      </a:pPr>
                      <a:r>
                        <a:rPr lang="en-US" sz="1200" u="none" cap="none" strike="noStrike"/>
                        <a:t>David Alonso</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Quality Assurance &amp; Security Testing </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marR="0" rtl="0" algn="l">
                        <a:spcBef>
                          <a:spcPts val="0"/>
                        </a:spcBef>
                        <a:spcAft>
                          <a:spcPts val="0"/>
                        </a:spcAft>
                        <a:buClr>
                          <a:schemeClr val="dk1"/>
                        </a:buClr>
                        <a:buSzPts val="1000"/>
                        <a:buFont typeface="Calibri"/>
                        <a:buNone/>
                      </a:pPr>
                      <a:r>
                        <a:rPr lang="en-US" sz="1200" u="none" cap="none" strike="noStrike"/>
                        <a:t>dalon065@fiu.edu</a:t>
                      </a:r>
                      <a:endParaRPr sz="1200" u="none" cap="none" strike="noStrike">
                        <a:solidFill>
                          <a:srgbClr val="1A1A1A"/>
                        </a:solidFill>
                        <a:latin typeface="Proxima Nova"/>
                        <a:ea typeface="Proxima Nova"/>
                        <a:cs typeface="Proxima Nova"/>
                        <a:sym typeface="Proxima Nova"/>
                      </a:endParaRPr>
                    </a:p>
                  </a:txBody>
                  <a:tcPr marT="63500" marB="63500" marR="76200" marL="76200" anchor="ctr"/>
                </a:tc>
                <a:tc>
                  <a:txBody>
                    <a:bodyPr/>
                    <a:lstStyle/>
                    <a:p>
                      <a:pPr indent="0" lvl="0" marL="0" rtl="0" algn="l">
                        <a:lnSpc>
                          <a:spcPct val="115000"/>
                        </a:lnSpc>
                        <a:spcBef>
                          <a:spcPts val="1800"/>
                        </a:spcBef>
                        <a:spcAft>
                          <a:spcPts val="400"/>
                        </a:spcAft>
                        <a:buClr>
                          <a:schemeClr val="dk1"/>
                        </a:buClr>
                        <a:buSzPts val="1100"/>
                        <a:buFont typeface="Arial"/>
                        <a:buNone/>
                      </a:pPr>
                      <a:r>
                        <a:rPr lang="en-US" sz="1200"/>
                        <a:t>Systems &amp; Operations, Results</a:t>
                      </a:r>
                      <a:endParaRPr sz="1200" u="none" cap="none" strike="noStrike">
                        <a:solidFill>
                          <a:srgbClr val="1A1A1A"/>
                        </a:solidFill>
                      </a:endParaRPr>
                    </a:p>
                  </a:txBody>
                  <a:tcPr marT="63500" marB="63500" marR="76200" marL="76200" anchor="ct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 name="Shape 31"/>
        <p:cNvGrpSpPr/>
        <p:nvPr/>
      </p:nvGrpSpPr>
      <p:grpSpPr>
        <a:xfrm>
          <a:off x="0" y="0"/>
          <a:ext cx="0" cy="0"/>
          <a:chOff x="0" y="0"/>
          <a:chExt cx="0" cy="0"/>
        </a:xfrm>
      </p:grpSpPr>
      <p:sp>
        <p:nvSpPr>
          <p:cNvPr id="32" name="Google Shape;32;p6"/>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The Problem</a:t>
            </a:r>
            <a:endParaRPr sz="3200">
              <a:solidFill>
                <a:schemeClr val="dk1"/>
              </a:solidFill>
              <a:latin typeface="Calibri"/>
              <a:ea typeface="Calibri"/>
              <a:cs typeface="Calibri"/>
              <a:sym typeface="Calibri"/>
            </a:endParaRPr>
          </a:p>
        </p:txBody>
      </p:sp>
      <p:sp>
        <p:nvSpPr>
          <p:cNvPr id="33" name="Google Shape;33;p6"/>
          <p:cNvSpPr/>
          <p:nvPr/>
        </p:nvSpPr>
        <p:spPr>
          <a:xfrm>
            <a:off x="502920" y="1645920"/>
            <a:ext cx="6949440" cy="4389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t/>
            </a:r>
            <a:endParaRPr i="1" sz="1500">
              <a:solidFill>
                <a:srgbClr val="5B667E"/>
              </a:solidFill>
              <a:latin typeface="Arial"/>
              <a:ea typeface="Arial"/>
              <a:cs typeface="Arial"/>
              <a:sym typeface="Arial"/>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Clinic staff need quick, reliable access to patient information to provide quality care, but outdated systems make that difficult.</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Without strong security, sensitive patient and financial information can be exposed to cyberattacks or unauthorized access.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Managing employee accounts and permissions manually is time-consuming and increases the risk of mistakes.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If nothing changes, the clinic faces higher security risks, possible compliance issues, costly downtime, and loss of patient trust.</a:t>
            </a:r>
            <a:endParaRPr/>
          </a:p>
          <a:p>
            <a:pPr indent="-190500" lvl="0" marL="285750" marR="0" rtl="0" algn="l">
              <a:spcBef>
                <a:spcPts val="0"/>
              </a:spcBef>
              <a:spcAft>
                <a:spcPts val="0"/>
              </a:spcAft>
              <a:buClr>
                <a:schemeClr val="dk1"/>
              </a:buClr>
              <a:buSzPts val="1500"/>
              <a:buFont typeface="Arial"/>
              <a:buNone/>
            </a:pPr>
            <a:r>
              <a:t/>
            </a:r>
            <a:endParaRPr i="1" sz="1500">
              <a:solidFill>
                <a:srgbClr val="5B667E"/>
              </a:solidFill>
              <a:latin typeface="Arial"/>
              <a:ea typeface="Arial"/>
              <a:cs typeface="Arial"/>
              <a:sym typeface="Arial"/>
            </a:endParaRPr>
          </a:p>
          <a:p>
            <a:pPr indent="0" lvl="0" marL="0" marR="0" rtl="0" algn="l">
              <a:spcBef>
                <a:spcPts val="0"/>
              </a:spcBef>
              <a:spcAft>
                <a:spcPts val="0"/>
              </a:spcAft>
              <a:buClr>
                <a:schemeClr val="dk1"/>
              </a:buClr>
              <a:buSzPts val="1500"/>
              <a:buFont typeface="Calibri"/>
              <a:buNone/>
            </a:pPr>
            <a:r>
              <a:t/>
            </a:r>
            <a:endParaRPr sz="1500">
              <a:solidFill>
                <a:schemeClr val="dk1"/>
              </a:solidFill>
              <a:latin typeface="Calibri"/>
              <a:ea typeface="Calibri"/>
              <a:cs typeface="Calibri"/>
              <a:sym typeface="Calibri"/>
            </a:endParaRPr>
          </a:p>
        </p:txBody>
      </p:sp>
      <p:sp>
        <p:nvSpPr>
          <p:cNvPr id="34" name="Google Shape;34;p6"/>
          <p:cNvSpPr/>
          <p:nvPr/>
        </p:nvSpPr>
        <p:spPr>
          <a:xfrm>
            <a:off x="7772400" y="1645920"/>
            <a:ext cx="3931920" cy="4389120"/>
          </a:xfrm>
          <a:prstGeom prst="roundRect">
            <a:avLst>
              <a:gd fmla="val 1860" name="adj"/>
            </a:avLst>
          </a:prstGeom>
          <a:solidFill>
            <a:srgbClr val="F2F4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 name="Google Shape;35;p6"/>
          <p:cNvSpPr/>
          <p:nvPr/>
        </p:nvSpPr>
        <p:spPr>
          <a:xfrm>
            <a:off x="7772400" y="1645920"/>
            <a:ext cx="3931920" cy="43891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B667E"/>
              </a:buClr>
              <a:buSzPts val="1200"/>
              <a:buFont typeface="Arial"/>
              <a:buNone/>
            </a:pPr>
            <a:r>
              <a:rPr i="1" lang="en-US" sz="1200">
                <a:solidFill>
                  <a:srgbClr val="5B667E"/>
                </a:solidFill>
                <a:latin typeface="Arial"/>
                <a:ea typeface="Arial"/>
                <a:cs typeface="Arial"/>
                <a:sym typeface="Arial"/>
              </a:rPr>
              <a:t>Optional: a photo, quote, or one number that makes the problem real</a:t>
            </a:r>
            <a:endParaRPr sz="1200">
              <a:solidFill>
                <a:schemeClr val="dk1"/>
              </a:solidFill>
              <a:latin typeface="Calibri"/>
              <a:ea typeface="Calibri"/>
              <a:cs typeface="Calibri"/>
              <a:sym typeface="Calibri"/>
            </a:endParaRPr>
          </a:p>
        </p:txBody>
      </p:sp>
      <p:pic>
        <p:nvPicPr>
          <p:cNvPr id="36" name="Google Shape;36;p6"/>
          <p:cNvPicPr preferRelativeResize="0"/>
          <p:nvPr/>
        </p:nvPicPr>
        <p:blipFill rotWithShape="1">
          <a:blip r:embed="rId3">
            <a:alphaModFix/>
          </a:blip>
          <a:srcRect b="15412" l="0" r="37316" t="0"/>
          <a:stretch/>
        </p:blipFill>
        <p:spPr>
          <a:xfrm>
            <a:off x="7772400" y="1645920"/>
            <a:ext cx="3886200" cy="438912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 name="Shape 41"/>
        <p:cNvGrpSpPr/>
        <p:nvPr/>
      </p:nvGrpSpPr>
      <p:grpSpPr>
        <a:xfrm>
          <a:off x="0" y="0"/>
          <a:ext cx="0" cy="0"/>
          <a:chOff x="0" y="0"/>
          <a:chExt cx="0" cy="0"/>
        </a:xfrm>
      </p:grpSpPr>
      <p:sp>
        <p:nvSpPr>
          <p:cNvPr id="42" name="Google Shape;42;p7"/>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Stakeholders &amp; Requirements</a:t>
            </a:r>
            <a:endParaRPr sz="3200">
              <a:solidFill>
                <a:schemeClr val="dk1"/>
              </a:solidFill>
              <a:latin typeface="Calibri"/>
              <a:ea typeface="Calibri"/>
              <a:cs typeface="Calibri"/>
              <a:sym typeface="Calibri"/>
            </a:endParaRPr>
          </a:p>
        </p:txBody>
      </p:sp>
      <p:sp>
        <p:nvSpPr>
          <p:cNvPr id="43" name="Google Shape;43;p7"/>
          <p:cNvSpPr/>
          <p:nvPr/>
        </p:nvSpPr>
        <p:spPr>
          <a:xfrm>
            <a:off x="487679" y="1234440"/>
            <a:ext cx="11281534" cy="47632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B667E"/>
              </a:buClr>
              <a:buSzPts val="1500"/>
              <a:buFont typeface="Arial"/>
              <a:buNone/>
            </a:pPr>
            <a:r>
              <a:t/>
            </a:r>
            <a:endParaRPr/>
          </a:p>
          <a:p>
            <a:pPr indent="0" lvl="0" marL="0" marR="0" rtl="0" algn="l">
              <a:spcBef>
                <a:spcPts val="0"/>
              </a:spcBef>
              <a:spcAft>
                <a:spcPts val="0"/>
              </a:spcAft>
              <a:buClr>
                <a:schemeClr val="dk1"/>
              </a:buClr>
              <a:buSzPts val="1600"/>
              <a:buFont typeface="Arial"/>
              <a:buNone/>
            </a:pPr>
            <a:r>
              <a:rPr lang="en-US" sz="1600">
                <a:solidFill>
                  <a:schemeClr val="dk1"/>
                </a:solidFill>
                <a:latin typeface="Arial"/>
                <a:ea typeface="Arial"/>
                <a:cs typeface="Arial"/>
                <a:sym typeface="Arial"/>
              </a:rPr>
              <a:t>Stakeholders: </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Clinic administrators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Healthcare staff</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IT administrators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Patients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RBAC, MFA, VPN, Active Directory, logging, backups, firewall protection</a:t>
            </a:r>
            <a:endParaRPr/>
          </a:p>
          <a:p>
            <a:pPr indent="-184150" lvl="0" marL="285750" marR="0" rtl="0" algn="l">
              <a:spcBef>
                <a:spcPts val="0"/>
              </a:spcBef>
              <a:spcAft>
                <a:spcPts val="0"/>
              </a:spcAft>
              <a:buClr>
                <a:schemeClr val="dk1"/>
              </a:buClr>
              <a:buSzPts val="1600"/>
              <a:buFont typeface="Arial"/>
              <a:buNone/>
            </a:pPr>
            <a:r>
              <a:t/>
            </a:r>
            <a:endParaRPr sz="1600">
              <a:solidFill>
                <a:schemeClr val="dk1"/>
              </a:solidFill>
              <a:latin typeface="Arial"/>
              <a:ea typeface="Arial"/>
              <a:cs typeface="Arial"/>
              <a:sym typeface="Arial"/>
            </a:endParaRPr>
          </a:p>
          <a:p>
            <a:pPr indent="0" lvl="0" marL="0" marR="0" rtl="0" algn="l">
              <a:spcBef>
                <a:spcPts val="0"/>
              </a:spcBef>
              <a:spcAft>
                <a:spcPts val="0"/>
              </a:spcAft>
              <a:buNone/>
            </a:pPr>
            <a:r>
              <a:rPr lang="en-US" sz="1600">
                <a:solidFill>
                  <a:schemeClr val="dk1"/>
                </a:solidFill>
                <a:latin typeface="Arial"/>
                <a:ea typeface="Arial"/>
                <a:cs typeface="Arial"/>
                <a:sym typeface="Arial"/>
              </a:rPr>
              <a:t>Key Functional: </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 Centralized user authentication with Active Directory</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Role-Based Access Control for department-specific permission</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Secure remote access through VPN with Multi-Factor Authentication</a:t>
            </a:r>
            <a:endParaRPr/>
          </a:p>
          <a:p>
            <a:pPr indent="0" lvl="0" marL="0" marR="0" rtl="0" algn="l">
              <a:spcBef>
                <a:spcPts val="0"/>
              </a:spcBef>
              <a:spcAft>
                <a:spcPts val="0"/>
              </a:spcAft>
              <a:buNone/>
            </a:pPr>
            <a:r>
              <a:t/>
            </a:r>
            <a:endParaRPr sz="1600">
              <a:solidFill>
                <a:schemeClr val="dk1"/>
              </a:solidFill>
              <a:latin typeface="Arial"/>
              <a:ea typeface="Arial"/>
              <a:cs typeface="Arial"/>
              <a:sym typeface="Arial"/>
            </a:endParaRPr>
          </a:p>
          <a:p>
            <a:pPr indent="0" lvl="0" marL="0" marR="0" rtl="0" algn="l">
              <a:spcBef>
                <a:spcPts val="0"/>
              </a:spcBef>
              <a:spcAft>
                <a:spcPts val="0"/>
              </a:spcAft>
              <a:buNone/>
            </a:pPr>
            <a:r>
              <a:rPr lang="en-US" sz="1600">
                <a:solidFill>
                  <a:schemeClr val="dk1"/>
                </a:solidFill>
                <a:latin typeface="Arial"/>
                <a:ea typeface="Arial"/>
                <a:cs typeface="Arial"/>
                <a:sym typeface="Arial"/>
              </a:rPr>
              <a:t>Key Non-Functional:</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High reliability</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Strong security and data protection</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Scalable cloud infrastructure </a:t>
            </a:r>
            <a:endParaRPr/>
          </a:p>
          <a:p>
            <a:pPr indent="0" lvl="0" marL="0" marR="0" rtl="0" algn="l">
              <a:spcBef>
                <a:spcPts val="0"/>
              </a:spcBef>
              <a:spcAft>
                <a:spcPts val="0"/>
              </a:spcAft>
              <a:buClr>
                <a:schemeClr val="dk1"/>
              </a:buClr>
              <a:buSzPts val="1500"/>
              <a:buFont typeface="Calibri"/>
              <a:buNone/>
            </a:pPr>
            <a:r>
              <a:t/>
            </a:r>
            <a:endParaRPr sz="15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8"/>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Our Solution</a:t>
            </a:r>
            <a:endParaRPr sz="3200">
              <a:solidFill>
                <a:schemeClr val="dk1"/>
              </a:solidFill>
              <a:latin typeface="Calibri"/>
              <a:ea typeface="Calibri"/>
              <a:cs typeface="Calibri"/>
              <a:sym typeface="Calibri"/>
            </a:endParaRPr>
          </a:p>
        </p:txBody>
      </p:sp>
      <p:sp>
        <p:nvSpPr>
          <p:cNvPr id="50" name="Google Shape;50;p8"/>
          <p:cNvSpPr/>
          <p:nvPr/>
        </p:nvSpPr>
        <p:spPr>
          <a:xfrm>
            <a:off x="502920" y="2310581"/>
            <a:ext cx="6793599" cy="31541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t/>
            </a:r>
            <a:endParaRPr i="1" sz="1500">
              <a:solidFill>
                <a:srgbClr val="5B667E"/>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rPr i="1" lang="en-US" sz="1600">
                <a:solidFill>
                  <a:schemeClr val="dk1"/>
                </a:solidFill>
                <a:latin typeface="Arial"/>
                <a:ea typeface="Arial"/>
                <a:cs typeface="Arial"/>
                <a:sym typeface="Arial"/>
              </a:rPr>
              <a:t>Key Designs:</a:t>
            </a:r>
            <a:endParaRPr/>
          </a:p>
          <a:p>
            <a:pPr indent="0" lvl="0" marL="0" marR="0" rtl="0" algn="l">
              <a:spcBef>
                <a:spcPts val="0"/>
              </a:spcBef>
              <a:spcAft>
                <a:spcPts val="0"/>
              </a:spcAft>
              <a:buClr>
                <a:schemeClr val="dk1"/>
              </a:buClr>
              <a:buSzPts val="1600"/>
              <a:buFont typeface="Arial"/>
              <a:buNone/>
            </a:pPr>
            <a:r>
              <a:rPr i="1" lang="en-US" sz="1600">
                <a:solidFill>
                  <a:schemeClr val="dk1"/>
                </a:solidFill>
                <a:latin typeface="Arial"/>
                <a:ea typeface="Arial"/>
                <a:cs typeface="Arial"/>
                <a:sym typeface="Arial"/>
              </a:rPr>
              <a:t> 1. Centralized Identity Management (Active Directory + Microsoft Entra ID)</a:t>
            </a:r>
            <a:endParaRPr/>
          </a:p>
          <a:p>
            <a:pPr indent="0" lvl="0" marL="0" marR="0" rtl="0" algn="l">
              <a:spcBef>
                <a:spcPts val="0"/>
              </a:spcBef>
              <a:spcAft>
                <a:spcPts val="0"/>
              </a:spcAft>
              <a:buClr>
                <a:schemeClr val="dk1"/>
              </a:buClr>
              <a:buSzPts val="1600"/>
              <a:buFont typeface="Arial"/>
              <a:buNone/>
            </a:pPr>
            <a:r>
              <a:rPr i="1" lang="en-US" sz="1600">
                <a:solidFill>
                  <a:schemeClr val="dk1"/>
                </a:solidFill>
                <a:latin typeface="Arial"/>
                <a:ea typeface="Arial"/>
                <a:cs typeface="Arial"/>
                <a:sym typeface="Arial"/>
              </a:rPr>
              <a:t>  2. Role-Based Access Control</a:t>
            </a:r>
            <a:endParaRPr/>
          </a:p>
          <a:p>
            <a:pPr indent="0" lvl="0" marL="0" marR="0" rtl="0" algn="l">
              <a:spcBef>
                <a:spcPts val="0"/>
              </a:spcBef>
              <a:spcAft>
                <a:spcPts val="0"/>
              </a:spcAft>
              <a:buClr>
                <a:schemeClr val="dk1"/>
              </a:buClr>
              <a:buSzPts val="1600"/>
              <a:buFont typeface="Arial"/>
              <a:buNone/>
            </a:pPr>
            <a:r>
              <a:rPr i="1" lang="en-US" sz="1600">
                <a:solidFill>
                  <a:schemeClr val="dk1"/>
                </a:solidFill>
                <a:latin typeface="Arial"/>
                <a:ea typeface="Arial"/>
                <a:cs typeface="Arial"/>
                <a:sym typeface="Arial"/>
              </a:rPr>
              <a:t>   3. Secure Remote Access (VPN + Multi-Factor Authentication)</a:t>
            </a:r>
            <a:endParaRPr/>
          </a:p>
        </p:txBody>
      </p:sp>
      <p:sp>
        <p:nvSpPr>
          <p:cNvPr id="51" name="Google Shape;51;p8"/>
          <p:cNvSpPr/>
          <p:nvPr/>
        </p:nvSpPr>
        <p:spPr>
          <a:xfrm>
            <a:off x="7772400" y="1645920"/>
            <a:ext cx="3931920" cy="4389120"/>
          </a:xfrm>
          <a:prstGeom prst="roundRect">
            <a:avLst>
              <a:gd fmla="val 1860" name="adj"/>
            </a:avLst>
          </a:prstGeom>
          <a:solidFill>
            <a:srgbClr val="F2F4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8"/>
          <p:cNvSpPr/>
          <p:nvPr/>
        </p:nvSpPr>
        <p:spPr>
          <a:xfrm>
            <a:off x="7772400" y="1645920"/>
            <a:ext cx="3931920" cy="43891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B667E"/>
              </a:buClr>
              <a:buSzPts val="1200"/>
              <a:buFont typeface="Arial"/>
              <a:buNone/>
            </a:pPr>
            <a:r>
              <a:rPr i="1" lang="en-US" sz="1200">
                <a:solidFill>
                  <a:srgbClr val="5B667E"/>
                </a:solidFill>
                <a:latin typeface="Arial"/>
                <a:ea typeface="Arial"/>
                <a:cs typeface="Arial"/>
                <a:sym typeface="Arial"/>
              </a:rPr>
              <a:t>Solution overview graphic</a:t>
            </a:r>
            <a:endParaRPr sz="1200">
              <a:solidFill>
                <a:schemeClr val="dk1"/>
              </a:solidFill>
              <a:latin typeface="Calibri"/>
              <a:ea typeface="Calibri"/>
              <a:cs typeface="Calibri"/>
              <a:sym typeface="Calibri"/>
            </a:endParaRPr>
          </a:p>
        </p:txBody>
      </p:sp>
      <p:sp>
        <p:nvSpPr>
          <p:cNvPr id="53" name="Google Shape;53;p8"/>
          <p:cNvSpPr txBox="1"/>
          <p:nvPr/>
        </p:nvSpPr>
        <p:spPr>
          <a:xfrm>
            <a:off x="423299" y="988749"/>
            <a:ext cx="7466570" cy="107721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Arial"/>
                <a:ea typeface="Arial"/>
                <a:cs typeface="Arial"/>
                <a:sym typeface="Arial"/>
              </a:rPr>
              <a:t>We built a secure, cloud-based IT infrastructure for a small healthcare clinic using Microsoft Azure. The solution centralizes user management, protects sensitive patient data, enables secure remote access, and provides continuous monitoring to help the clinic operate safely and efficiently.</a:t>
            </a:r>
            <a:endParaRPr/>
          </a:p>
        </p:txBody>
      </p:sp>
      <p:pic>
        <p:nvPicPr>
          <p:cNvPr id="54" name="Google Shape;54;p8"/>
          <p:cNvPicPr preferRelativeResize="0"/>
          <p:nvPr/>
        </p:nvPicPr>
        <p:blipFill rotWithShape="1">
          <a:blip r:embed="rId3">
            <a:alphaModFix/>
          </a:blip>
          <a:srcRect b="7240" l="1613" r="-1" t="0"/>
          <a:stretch/>
        </p:blipFill>
        <p:spPr>
          <a:xfrm>
            <a:off x="7772400" y="1645920"/>
            <a:ext cx="3931920" cy="438912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9"/>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Architecture</a:t>
            </a:r>
            <a:endParaRPr sz="3200">
              <a:solidFill>
                <a:schemeClr val="dk1"/>
              </a:solidFill>
              <a:latin typeface="Calibri"/>
              <a:ea typeface="Calibri"/>
              <a:cs typeface="Calibri"/>
              <a:sym typeface="Calibri"/>
            </a:endParaRPr>
          </a:p>
        </p:txBody>
      </p:sp>
      <p:sp>
        <p:nvSpPr>
          <p:cNvPr id="61" name="Google Shape;61;p9"/>
          <p:cNvSpPr/>
          <p:nvPr/>
        </p:nvSpPr>
        <p:spPr>
          <a:xfrm>
            <a:off x="1243089" y="1554480"/>
            <a:ext cx="10026273" cy="4572000"/>
          </a:xfrm>
          <a:prstGeom prst="roundRect">
            <a:avLst>
              <a:gd fmla="val 1600" name="adj"/>
            </a:avLst>
          </a:prstGeom>
          <a:solidFill>
            <a:srgbClr val="F2F4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 name="Google Shape;62;p9"/>
          <p:cNvSpPr/>
          <p:nvPr/>
        </p:nvSpPr>
        <p:spPr>
          <a:xfrm>
            <a:off x="502920" y="1554480"/>
            <a:ext cx="11155680" cy="45720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B667E"/>
              </a:buClr>
              <a:buSzPts val="1200"/>
              <a:buFont typeface="Arial"/>
              <a:buNone/>
            </a:pPr>
            <a:r>
              <a:rPr i="1" lang="en-US" sz="1200">
                <a:solidFill>
                  <a:srgbClr val="5B667E"/>
                </a:solidFill>
                <a:latin typeface="Arial"/>
                <a:ea typeface="Arial"/>
                <a:cs typeface="Arial"/>
                <a:sym typeface="Arial"/>
              </a:rPr>
              <a:t>REPLACE with your architecture diagram — full width, large labels</a:t>
            </a:r>
            <a:endParaRPr sz="1200">
              <a:solidFill>
                <a:schemeClr val="dk1"/>
              </a:solidFill>
              <a:latin typeface="Calibri"/>
              <a:ea typeface="Calibri"/>
              <a:cs typeface="Calibri"/>
              <a:sym typeface="Calibri"/>
            </a:endParaRPr>
          </a:p>
        </p:txBody>
      </p:sp>
      <p:pic>
        <p:nvPicPr>
          <p:cNvPr id="63" name="Google Shape;63;p9"/>
          <p:cNvPicPr preferRelativeResize="0"/>
          <p:nvPr/>
        </p:nvPicPr>
        <p:blipFill rotWithShape="1">
          <a:blip r:embed="rId3">
            <a:alphaModFix/>
          </a:blip>
          <a:srcRect b="0" l="0" r="0" t="0"/>
          <a:stretch/>
        </p:blipFill>
        <p:spPr>
          <a:xfrm>
            <a:off x="1075039" y="1051560"/>
            <a:ext cx="10194323" cy="507492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0"/>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Live Demo</a:t>
            </a:r>
            <a:endParaRPr sz="3200">
              <a:solidFill>
                <a:schemeClr val="dk1"/>
              </a:solidFill>
              <a:latin typeface="Calibri"/>
              <a:ea typeface="Calibri"/>
              <a:cs typeface="Calibri"/>
              <a:sym typeface="Calibri"/>
            </a:endParaRPr>
          </a:p>
        </p:txBody>
      </p:sp>
      <p:sp>
        <p:nvSpPr>
          <p:cNvPr id="70" name="Google Shape;70;p10"/>
          <p:cNvSpPr/>
          <p:nvPr/>
        </p:nvSpPr>
        <p:spPr>
          <a:xfrm>
            <a:off x="502920" y="1024128"/>
            <a:ext cx="111556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667E"/>
              </a:buClr>
              <a:buSzPts val="1400"/>
              <a:buFont typeface="Arial"/>
              <a:buNone/>
            </a:pPr>
            <a:r>
              <a:rPr i="1" lang="en-US" sz="1400">
                <a:solidFill>
                  <a:srgbClr val="5B667E"/>
                </a:solidFill>
                <a:latin typeface="Arial"/>
                <a:ea typeface="Arial"/>
                <a:cs typeface="Arial"/>
                <a:sym typeface="Arial"/>
              </a:rPr>
              <a:t>10 minutes — the heart of your session</a:t>
            </a:r>
            <a:endParaRPr sz="1400">
              <a:solidFill>
                <a:schemeClr val="dk1"/>
              </a:solidFill>
              <a:latin typeface="Calibri"/>
              <a:ea typeface="Calibri"/>
              <a:cs typeface="Calibri"/>
              <a:sym typeface="Calibri"/>
            </a:endParaRPr>
          </a:p>
        </p:txBody>
      </p:sp>
      <p:sp>
        <p:nvSpPr>
          <p:cNvPr id="71" name="Google Shape;71;p10"/>
          <p:cNvSpPr/>
          <p:nvPr/>
        </p:nvSpPr>
        <p:spPr>
          <a:xfrm>
            <a:off x="502920" y="1645920"/>
            <a:ext cx="11155680" cy="42062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a:t>Here's the link: </a:t>
            </a:r>
            <a:r>
              <a:rPr lang="en-US" u="sng">
                <a:solidFill>
                  <a:schemeClr val="hlink"/>
                </a:solidFill>
                <a:hlinkClick r:id="rId3"/>
              </a:rPr>
              <a:t>https://youtu.be/jxOTyCcKHVg</a:t>
            </a:r>
            <a:r>
              <a:rPr lang="en-US"/>
              <a:t> </a:t>
            </a:r>
            <a:endParaRPr/>
          </a:p>
        </p:txBody>
      </p:sp>
      <p:pic>
        <p:nvPicPr>
          <p:cNvPr id="72" name="Google Shape;72;p10" title="WhatsApp Image 2026-07-26 at 3.04.35 AM.jpeg"/>
          <p:cNvPicPr preferRelativeResize="0"/>
          <p:nvPr/>
        </p:nvPicPr>
        <p:blipFill>
          <a:blip r:embed="rId4">
            <a:alphaModFix/>
          </a:blip>
          <a:stretch>
            <a:fillRect/>
          </a:stretch>
        </p:blipFill>
        <p:spPr>
          <a:xfrm>
            <a:off x="7487750" y="396625"/>
            <a:ext cx="3283951" cy="5710051"/>
          </a:xfrm>
          <a:prstGeom prst="rect">
            <a:avLst/>
          </a:prstGeom>
          <a:noFill/>
          <a:ln>
            <a:noFill/>
          </a:ln>
        </p:spPr>
      </p:pic>
      <p:pic>
        <p:nvPicPr>
          <p:cNvPr id="73" name="Google Shape;73;p10" title="WhatsApp Image 2026-07-26 at 3.04.35 AM (1).jpeg"/>
          <p:cNvPicPr preferRelativeResize="0"/>
          <p:nvPr/>
        </p:nvPicPr>
        <p:blipFill>
          <a:blip r:embed="rId5">
            <a:alphaModFix/>
          </a:blip>
          <a:stretch>
            <a:fillRect/>
          </a:stretch>
        </p:blipFill>
        <p:spPr>
          <a:xfrm>
            <a:off x="1042525" y="2263375"/>
            <a:ext cx="5000875" cy="384330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1"/>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Systems &amp; Operations (SO6)</a:t>
            </a:r>
            <a:endParaRPr sz="3200">
              <a:solidFill>
                <a:schemeClr val="dk1"/>
              </a:solidFill>
              <a:latin typeface="Calibri"/>
              <a:ea typeface="Calibri"/>
              <a:cs typeface="Calibri"/>
              <a:sym typeface="Calibri"/>
            </a:endParaRPr>
          </a:p>
        </p:txBody>
      </p:sp>
      <p:sp>
        <p:nvSpPr>
          <p:cNvPr id="80" name="Google Shape;80;p11"/>
          <p:cNvSpPr/>
          <p:nvPr/>
        </p:nvSpPr>
        <p:spPr>
          <a:xfrm>
            <a:off x="502920" y="1024128"/>
            <a:ext cx="111556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667E"/>
              </a:buClr>
              <a:buSzPts val="1400"/>
              <a:buFont typeface="Arial"/>
              <a:buNone/>
            </a:pPr>
            <a:r>
              <a:rPr i="1" lang="en-US" sz="1400">
                <a:solidFill>
                  <a:srgbClr val="5B667E"/>
                </a:solidFill>
                <a:latin typeface="Arial"/>
                <a:ea typeface="Arial"/>
                <a:cs typeface="Arial"/>
                <a:sym typeface="Arial"/>
              </a:rPr>
              <a:t>SO6 for Information Technology — Building and Managing a Secure IT Infrastructure </a:t>
            </a:r>
            <a:endParaRPr sz="1400">
              <a:solidFill>
                <a:schemeClr val="dk1"/>
              </a:solidFill>
              <a:latin typeface="Calibri"/>
              <a:ea typeface="Calibri"/>
              <a:cs typeface="Calibri"/>
              <a:sym typeface="Calibri"/>
            </a:endParaRPr>
          </a:p>
        </p:txBody>
      </p:sp>
      <p:sp>
        <p:nvSpPr>
          <p:cNvPr id="81" name="Google Shape;81;p11"/>
          <p:cNvSpPr/>
          <p:nvPr/>
        </p:nvSpPr>
        <p:spPr>
          <a:xfrm>
            <a:off x="502920" y="1645920"/>
            <a:ext cx="11155680" cy="4206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300">
              <a:solidFill>
                <a:srgbClr val="16203A"/>
              </a:solidFill>
              <a:latin typeface="Arial"/>
              <a:ea typeface="Arial"/>
              <a:cs typeface="Arial"/>
              <a:sym typeface="Arial"/>
            </a:endParaRPr>
          </a:p>
          <a:p>
            <a:pPr indent="-342900" lvl="0" marL="342900" marR="0" rtl="0" algn="l">
              <a:spcBef>
                <a:spcPts val="600"/>
              </a:spcBef>
              <a:spcAft>
                <a:spcPts val="0"/>
              </a:spcAft>
              <a:buClr>
                <a:schemeClr val="dk1"/>
              </a:buClr>
              <a:buSzPts val="1600"/>
              <a:buFont typeface="Arial"/>
              <a:buChar char="•"/>
            </a:pPr>
            <a:r>
              <a:rPr lang="en-US" sz="1600">
                <a:solidFill>
                  <a:schemeClr val="dk1"/>
                </a:solidFill>
                <a:latin typeface="Arial"/>
                <a:ea typeface="Arial"/>
                <a:cs typeface="Arial"/>
                <a:sym typeface="Arial"/>
              </a:rPr>
              <a:t>We designed a secure network with VLAN segmentation, pfsense firewall, and OpenVPN for secure remote access. </a:t>
            </a:r>
            <a:endParaRPr sz="1600">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600"/>
              <a:buFont typeface="Arial"/>
              <a:buChar char="•"/>
            </a:pPr>
            <a:r>
              <a:rPr lang="en-US" sz="1600">
                <a:solidFill>
                  <a:schemeClr val="dk1"/>
                </a:solidFill>
                <a:latin typeface="Arial"/>
                <a:ea typeface="Arial"/>
                <a:cs typeface="Arial"/>
                <a:sym typeface="Arial"/>
              </a:rPr>
              <a:t>We implemented Active Directory, Microsoft ID, and Role Based Access control for centralized identity management.</a:t>
            </a:r>
            <a:endParaRPr sz="1600">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600"/>
              <a:buFont typeface="Arial"/>
              <a:buChar char="•"/>
            </a:pPr>
            <a:r>
              <a:rPr lang="en-US" sz="1600">
                <a:solidFill>
                  <a:schemeClr val="dk1"/>
                </a:solidFill>
                <a:latin typeface="Arial"/>
                <a:ea typeface="Arial"/>
                <a:cs typeface="Arial"/>
                <a:sym typeface="Arial"/>
              </a:rPr>
              <a:t>We developed a deployed the clinic infrastructure in Microsoft Azure using Windows Server 2022 Virtual Machines  </a:t>
            </a:r>
            <a:endParaRPr sz="1600">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600"/>
              <a:buFont typeface="Arial"/>
              <a:buChar char="•"/>
            </a:pPr>
            <a:r>
              <a:rPr lang="en-US" sz="1600">
                <a:solidFill>
                  <a:schemeClr val="dk1"/>
                </a:solidFill>
                <a:latin typeface="Arial"/>
                <a:ea typeface="Arial"/>
                <a:cs typeface="Arial"/>
                <a:sym typeface="Arial"/>
              </a:rPr>
              <a:t>We enforced Multi-Factor Authentication, group policies, password complexity, and account lockout policies. </a:t>
            </a:r>
            <a:endParaRPr sz="1600">
              <a:solidFill>
                <a:schemeClr val="dk1"/>
              </a:solidFill>
              <a:latin typeface="Calibri"/>
              <a:ea typeface="Calibri"/>
              <a:cs typeface="Calibri"/>
              <a:sym typeface="Calibri"/>
            </a:endParaRPr>
          </a:p>
          <a:p>
            <a:pPr indent="-342900" lvl="0" marL="342900" marR="0" rtl="0" algn="l">
              <a:spcBef>
                <a:spcPts val="600"/>
              </a:spcBef>
              <a:spcAft>
                <a:spcPts val="0"/>
              </a:spcAft>
              <a:buClr>
                <a:schemeClr val="dk1"/>
              </a:buClr>
              <a:buSzPts val="1600"/>
              <a:buFont typeface="Arial"/>
              <a:buChar char="•"/>
            </a:pPr>
            <a:r>
              <a:rPr lang="en-US" sz="1600">
                <a:solidFill>
                  <a:schemeClr val="dk1"/>
                </a:solidFill>
                <a:latin typeface="Arial"/>
                <a:ea typeface="Arial"/>
                <a:cs typeface="Arial"/>
                <a:sym typeface="Arial"/>
              </a:rPr>
              <a:t>We used GitHub for team collaboration. </a:t>
            </a:r>
            <a:endParaRPr/>
          </a:p>
          <a:p>
            <a:pPr indent="-342900" lvl="0" marL="342900" marR="0" rtl="0" algn="l">
              <a:spcBef>
                <a:spcPts val="600"/>
              </a:spcBef>
              <a:spcAft>
                <a:spcPts val="0"/>
              </a:spcAft>
              <a:buClr>
                <a:schemeClr val="dk1"/>
              </a:buClr>
              <a:buSzPts val="1600"/>
              <a:buFont typeface="Arial"/>
              <a:buChar char="•"/>
            </a:pPr>
            <a:r>
              <a:rPr lang="en-US" sz="1600">
                <a:solidFill>
                  <a:schemeClr val="dk1"/>
                </a:solidFill>
                <a:latin typeface="Arial"/>
                <a:ea typeface="Arial"/>
                <a:cs typeface="Arial"/>
                <a:sym typeface="Arial"/>
              </a:rPr>
              <a:t>We managed users, security groups, devices, and endpoint compliance using Microsoft Intune and Active Directory. </a:t>
            </a:r>
            <a:endParaRPr sz="16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2"/>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Results &amp; Evaluation</a:t>
            </a:r>
            <a:endParaRPr sz="3200">
              <a:solidFill>
                <a:schemeClr val="dk1"/>
              </a:solidFill>
              <a:latin typeface="Calibri"/>
              <a:ea typeface="Calibri"/>
              <a:cs typeface="Calibri"/>
              <a:sym typeface="Calibri"/>
            </a:endParaRPr>
          </a:p>
        </p:txBody>
      </p:sp>
      <p:sp>
        <p:nvSpPr>
          <p:cNvPr id="88" name="Google Shape;88;p12"/>
          <p:cNvSpPr/>
          <p:nvPr/>
        </p:nvSpPr>
        <p:spPr>
          <a:xfrm>
            <a:off x="502920" y="1024128"/>
            <a:ext cx="111556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667E"/>
              </a:buClr>
              <a:buSzPts val="1400"/>
              <a:buFont typeface="Arial"/>
              <a:buNone/>
            </a:pPr>
            <a:r>
              <a:rPr i="1" lang="en-US" sz="1400">
                <a:solidFill>
                  <a:srgbClr val="5B667E"/>
                </a:solidFill>
                <a:latin typeface="Arial"/>
                <a:ea typeface="Arial"/>
                <a:cs typeface="Arial"/>
                <a:sym typeface="Arial"/>
              </a:rPr>
              <a:t>what you measured, not what you hope</a:t>
            </a:r>
            <a:endParaRPr sz="1400">
              <a:solidFill>
                <a:schemeClr val="dk1"/>
              </a:solidFill>
              <a:latin typeface="Calibri"/>
              <a:ea typeface="Calibri"/>
              <a:cs typeface="Calibri"/>
              <a:sym typeface="Calibri"/>
            </a:endParaRPr>
          </a:p>
        </p:txBody>
      </p:sp>
      <p:sp>
        <p:nvSpPr>
          <p:cNvPr id="89" name="Google Shape;89;p12"/>
          <p:cNvSpPr/>
          <p:nvPr/>
        </p:nvSpPr>
        <p:spPr>
          <a:xfrm>
            <a:off x="502920" y="1645920"/>
            <a:ext cx="6949440" cy="4389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t/>
            </a:r>
            <a:endParaRPr i="1" sz="1500">
              <a:solidFill>
                <a:srgbClr val="5B667E"/>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rPr lang="en-US" sz="1600">
                <a:solidFill>
                  <a:schemeClr val="dk1"/>
                </a:solidFill>
                <a:latin typeface="Arial"/>
                <a:ea typeface="Arial"/>
                <a:cs typeface="Arial"/>
                <a:sym typeface="Arial"/>
              </a:rPr>
              <a:t>Security Validation Results: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Verified audit logging, password policies, account lockout</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Successfully validated Active Directory authentication, VPN connectivity, multi-factor Authentication and firewall protection </a:t>
            </a:r>
            <a:endParaRPr/>
          </a:p>
          <a:p>
            <a:pPr indent="-184150" lvl="0" marL="285750" marR="0" rtl="0" algn="l">
              <a:spcBef>
                <a:spcPts val="0"/>
              </a:spcBef>
              <a:spcAft>
                <a:spcPts val="0"/>
              </a:spcAft>
              <a:buClr>
                <a:schemeClr val="dk1"/>
              </a:buClr>
              <a:buSzPts val="1600"/>
              <a:buFont typeface="Calibri"/>
              <a:buNone/>
            </a:pPr>
            <a:r>
              <a:t/>
            </a:r>
            <a:endParaRPr sz="1600">
              <a:solidFill>
                <a:schemeClr val="dk1"/>
              </a:solidFill>
              <a:latin typeface="Arial"/>
              <a:ea typeface="Arial"/>
              <a:cs typeface="Arial"/>
              <a:sym typeface="Arial"/>
            </a:endParaRPr>
          </a:p>
          <a:p>
            <a:pPr indent="0" lvl="0" marL="0" marR="0" rtl="0" algn="l">
              <a:spcBef>
                <a:spcPts val="0"/>
              </a:spcBef>
              <a:spcAft>
                <a:spcPts val="0"/>
              </a:spcAft>
              <a:buNone/>
            </a:pPr>
            <a:r>
              <a:rPr lang="en-US" sz="1600">
                <a:solidFill>
                  <a:schemeClr val="dk1"/>
                </a:solidFill>
                <a:latin typeface="Arial"/>
                <a:ea typeface="Arial"/>
                <a:cs typeface="Arial"/>
                <a:sym typeface="Arial"/>
              </a:rPr>
              <a:t>Key Outcomes: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Centralized identity management</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Secure remote access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Layered security controls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Scalable Azure infrastructure</a:t>
            </a:r>
            <a:endParaRPr/>
          </a:p>
          <a:p>
            <a:pPr indent="0" lvl="0" marL="0" marR="0" rtl="0" algn="l">
              <a:spcBef>
                <a:spcPts val="0"/>
              </a:spcBef>
              <a:spcAft>
                <a:spcPts val="0"/>
              </a:spcAft>
              <a:buClr>
                <a:schemeClr val="dk1"/>
              </a:buClr>
              <a:buSzPts val="1500"/>
              <a:buFont typeface="Calibri"/>
              <a:buNone/>
            </a:pPr>
            <a:r>
              <a:t/>
            </a:r>
            <a:endParaRPr sz="1500">
              <a:solidFill>
                <a:schemeClr val="dk1"/>
              </a:solidFill>
              <a:latin typeface="Calibri"/>
              <a:ea typeface="Calibri"/>
              <a:cs typeface="Calibri"/>
              <a:sym typeface="Calibri"/>
            </a:endParaRPr>
          </a:p>
        </p:txBody>
      </p:sp>
      <p:sp>
        <p:nvSpPr>
          <p:cNvPr id="90" name="Google Shape;90;p12"/>
          <p:cNvSpPr/>
          <p:nvPr/>
        </p:nvSpPr>
        <p:spPr>
          <a:xfrm>
            <a:off x="7772400" y="1645920"/>
            <a:ext cx="3931920" cy="4389120"/>
          </a:xfrm>
          <a:prstGeom prst="roundRect">
            <a:avLst>
              <a:gd fmla="val 1860" name="adj"/>
            </a:avLst>
          </a:prstGeom>
          <a:solidFill>
            <a:srgbClr val="F2F4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12"/>
          <p:cNvSpPr/>
          <p:nvPr/>
        </p:nvSpPr>
        <p:spPr>
          <a:xfrm>
            <a:off x="7772400" y="1645920"/>
            <a:ext cx="3931920" cy="43891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200"/>
              <a:buFont typeface="Calibri"/>
              <a:buNone/>
            </a:pPr>
            <a:r>
              <a:t/>
            </a:r>
            <a:endParaRPr sz="1200">
              <a:solidFill>
                <a:schemeClr val="dk1"/>
              </a:solidFill>
              <a:latin typeface="Calibri"/>
              <a:ea typeface="Calibri"/>
              <a:cs typeface="Calibri"/>
              <a:sym typeface="Calibri"/>
            </a:endParaRPr>
          </a:p>
        </p:txBody>
      </p:sp>
      <p:graphicFrame>
        <p:nvGraphicFramePr>
          <p:cNvPr id="92" name="Google Shape;92;p12"/>
          <p:cNvGraphicFramePr/>
          <p:nvPr/>
        </p:nvGraphicFramePr>
        <p:xfrm>
          <a:off x="7772400" y="1645921"/>
          <a:ext cx="3000000" cy="3000000"/>
        </p:xfrm>
        <a:graphic>
          <a:graphicData uri="http://schemas.openxmlformats.org/drawingml/2006/table">
            <a:tbl>
              <a:tblPr>
                <a:noFill/>
                <a:tableStyleId>{1D6719D4-AE72-4BA9-9851-CEC03C859523}</a:tableStyleId>
              </a:tblPr>
              <a:tblGrid>
                <a:gridCol w="1958350"/>
                <a:gridCol w="1958350"/>
              </a:tblGrid>
              <a:tr h="383025">
                <a:tc>
                  <a:txBody>
                    <a:bodyPr/>
                    <a:lstStyle/>
                    <a:p>
                      <a:pPr indent="0" lvl="0" marL="0" marR="0" rtl="0" algn="ctr">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Metric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  Result</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805125">
                <a:tc>
                  <a:txBody>
                    <a:bodyPr/>
                    <a:lstStyle/>
                    <a:p>
                      <a:pPr indent="0" lvl="0" marL="0" marR="0" rtl="0" algn="l">
                        <a:spcBef>
                          <a:spcPts val="0"/>
                        </a:spcBef>
                        <a:spcAft>
                          <a:spcPts val="0"/>
                        </a:spcAft>
                        <a:buClr>
                          <a:schemeClr val="dk1"/>
                        </a:buClr>
                        <a:buSzPts val="1600"/>
                        <a:buFont typeface="Arial"/>
                        <a:buNone/>
                      </a:pPr>
                      <a:r>
                        <a:rPr lang="en-US" sz="1600" u="none" cap="none" strike="noStrike">
                          <a:latin typeface="Arial"/>
                          <a:ea typeface="Arial"/>
                          <a:cs typeface="Arial"/>
                          <a:sym typeface="Arial"/>
                        </a:rPr>
                        <a:t>Security Validation Tests</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9/9 Passed  </a:t>
                      </a:r>
                      <a:endParaRPr sz="1600" u="none" cap="none" strike="noStrike">
                        <a:latin typeface="Arial"/>
                        <a:ea typeface="Arial"/>
                        <a:cs typeface="Arial"/>
                        <a:sym typeface="Aria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63600">
                <a:tc>
                  <a:txBody>
                    <a:bodyPr/>
                    <a:lstStyle/>
                    <a:p>
                      <a:pPr indent="0" lvl="0" marL="0" marR="0" rtl="0" algn="l">
                        <a:spcBef>
                          <a:spcPts val="0"/>
                        </a:spcBef>
                        <a:spcAft>
                          <a:spcPts val="0"/>
                        </a:spcAft>
                        <a:buClr>
                          <a:schemeClr val="dk1"/>
                        </a:buClr>
                        <a:buSzPts val="1600"/>
                        <a:buFont typeface="Arial"/>
                        <a:buNone/>
                      </a:pPr>
                      <a:r>
                        <a:rPr lang="en-US" sz="1600" u="none" cap="none" strike="noStrike">
                          <a:latin typeface="Arial"/>
                          <a:ea typeface="Arial"/>
                          <a:cs typeface="Arial"/>
                          <a:sym typeface="Arial"/>
                        </a:rPr>
                        <a:t>Authentication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Successful</a:t>
                      </a:r>
                      <a:endParaRPr sz="1600" u="none" cap="none" strike="noStrike">
                        <a:latin typeface="Arial"/>
                        <a:ea typeface="Arial"/>
                        <a:cs typeface="Arial"/>
                        <a:sym typeface="Aria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63600">
                <a:tc>
                  <a:txBody>
                    <a:bodyPr/>
                    <a:lstStyle/>
                    <a:p>
                      <a:pPr indent="0" lvl="0" marL="0" marR="0" rtl="0" algn="l">
                        <a:spcBef>
                          <a:spcPts val="0"/>
                        </a:spcBef>
                        <a:spcAft>
                          <a:spcPts val="0"/>
                        </a:spcAft>
                        <a:buClr>
                          <a:schemeClr val="dk1"/>
                        </a:buClr>
                        <a:buSzPts val="1600"/>
                        <a:buFont typeface="Arial"/>
                        <a:buNone/>
                      </a:pPr>
                      <a:r>
                        <a:rPr lang="en-US" sz="1600" u="none" cap="none" strike="noStrike">
                          <a:latin typeface="Arial"/>
                          <a:ea typeface="Arial"/>
                          <a:cs typeface="Arial"/>
                          <a:sym typeface="Arial"/>
                        </a:rPr>
                        <a:t>RBAC Verification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Passed</a:t>
                      </a:r>
                      <a:endParaRPr sz="1600" u="none" cap="none" strike="noStrike">
                        <a:latin typeface="Arial"/>
                        <a:ea typeface="Arial"/>
                        <a:cs typeface="Arial"/>
                        <a:sym typeface="Aria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3025">
                <a:tc>
                  <a:txBody>
                    <a:bodyPr/>
                    <a:lstStyle/>
                    <a:p>
                      <a:pPr indent="0" lvl="0" marL="0" marR="0" rtl="0" algn="l">
                        <a:spcBef>
                          <a:spcPts val="0"/>
                        </a:spcBef>
                        <a:spcAft>
                          <a:spcPts val="0"/>
                        </a:spcAft>
                        <a:buClr>
                          <a:schemeClr val="dk1"/>
                        </a:buClr>
                        <a:buSzPts val="1600"/>
                        <a:buFont typeface="Arial"/>
                        <a:buNone/>
                      </a:pPr>
                      <a:r>
                        <a:rPr lang="en-US" sz="1600" u="none" cap="none" strike="noStrike">
                          <a:latin typeface="Arial"/>
                          <a:ea typeface="Arial"/>
                          <a:cs typeface="Arial"/>
                          <a:sym typeface="Arial"/>
                        </a:rPr>
                        <a:t>VPN + MFA</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Verified</a:t>
                      </a:r>
                      <a:endParaRPr sz="1600" u="none" cap="none" strike="noStrike">
                        <a:latin typeface="Arial"/>
                        <a:ea typeface="Arial"/>
                        <a:cs typeface="Arial"/>
                        <a:sym typeface="Aria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63600">
                <a:tc>
                  <a:txBody>
                    <a:bodyPr/>
                    <a:lstStyle/>
                    <a:p>
                      <a:pPr indent="0" lvl="0" marL="0" marR="0" rtl="0" algn="l">
                        <a:spcBef>
                          <a:spcPts val="0"/>
                        </a:spcBef>
                        <a:spcAft>
                          <a:spcPts val="0"/>
                        </a:spcAft>
                        <a:buClr>
                          <a:schemeClr val="dk1"/>
                        </a:buClr>
                        <a:buSzPts val="1600"/>
                        <a:buFont typeface="Arial"/>
                        <a:buNone/>
                      </a:pPr>
                      <a:r>
                        <a:rPr lang="en-US" sz="1600" u="none" cap="none" strike="noStrike">
                          <a:latin typeface="Arial"/>
                          <a:ea typeface="Arial"/>
                          <a:cs typeface="Arial"/>
                          <a:sym typeface="Arial"/>
                        </a:rPr>
                        <a:t>Firewall Protection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Passed</a:t>
                      </a:r>
                      <a:endParaRPr sz="1600" u="none" cap="none" strike="noStrike">
                        <a:latin typeface="Arial"/>
                        <a:ea typeface="Arial"/>
                        <a:cs typeface="Arial"/>
                        <a:sym typeface="Aria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63600">
                <a:tc>
                  <a:txBody>
                    <a:bodyPr/>
                    <a:lstStyle/>
                    <a:p>
                      <a:pPr indent="0" lvl="0" marL="0" marR="0" rtl="0" algn="l">
                        <a:spcBef>
                          <a:spcPts val="0"/>
                        </a:spcBef>
                        <a:spcAft>
                          <a:spcPts val="0"/>
                        </a:spcAft>
                        <a:buClr>
                          <a:schemeClr val="dk1"/>
                        </a:buClr>
                        <a:buSzPts val="1600"/>
                        <a:buFont typeface="Arial"/>
                        <a:buNone/>
                      </a:pPr>
                      <a:r>
                        <a:rPr lang="en-US" sz="1600" u="none" cap="none" strike="noStrike">
                          <a:latin typeface="Arial"/>
                          <a:ea typeface="Arial"/>
                          <a:cs typeface="Arial"/>
                          <a:sym typeface="Arial"/>
                        </a:rPr>
                        <a:t>Audit Logging</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Verified</a:t>
                      </a:r>
                      <a:endParaRPr sz="1600" u="none" cap="none" strike="noStrike">
                        <a:latin typeface="Arial"/>
                        <a:ea typeface="Arial"/>
                        <a:cs typeface="Arial"/>
                        <a:sym typeface="Aria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63600">
                <a:tc>
                  <a:txBody>
                    <a:bodyPr/>
                    <a:lstStyle/>
                    <a:p>
                      <a:pPr indent="0" lvl="0" marL="0" marR="0" rtl="0" algn="l">
                        <a:spcBef>
                          <a:spcPts val="0"/>
                        </a:spcBef>
                        <a:spcAft>
                          <a:spcPts val="0"/>
                        </a:spcAft>
                        <a:buClr>
                          <a:schemeClr val="dk1"/>
                        </a:buClr>
                        <a:buSzPts val="1600"/>
                        <a:buFont typeface="Arial"/>
                        <a:buNone/>
                      </a:pPr>
                      <a:r>
                        <a:rPr lang="en-US" sz="1600" u="none" cap="none" strike="noStrike">
                          <a:latin typeface="Arial"/>
                          <a:ea typeface="Arial"/>
                          <a:cs typeface="Arial"/>
                          <a:sym typeface="Arial"/>
                        </a:rPr>
                        <a:t>Backup Validation</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600"/>
                        <a:buFont typeface="Arial"/>
                        <a:buNone/>
                      </a:pPr>
                      <a:r>
                        <a:rPr b="1" lang="en-US" sz="1600" u="none" cap="none" strike="noStrike">
                          <a:latin typeface="Arial"/>
                          <a:ea typeface="Arial"/>
                          <a:cs typeface="Arial"/>
                          <a:sym typeface="Arial"/>
                        </a:rPr>
                        <a:t>Successful</a:t>
                      </a:r>
                      <a:endParaRPr sz="1600" u="none" cap="none" strike="noStrike">
                        <a:latin typeface="Arial"/>
                        <a:ea typeface="Arial"/>
                        <a:cs typeface="Arial"/>
                        <a:sym typeface="Aria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3"/>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How We Worked</a:t>
            </a:r>
            <a:endParaRPr sz="3200">
              <a:solidFill>
                <a:schemeClr val="dk1"/>
              </a:solidFill>
              <a:latin typeface="Calibri"/>
              <a:ea typeface="Calibri"/>
              <a:cs typeface="Calibri"/>
              <a:sym typeface="Calibri"/>
            </a:endParaRPr>
          </a:p>
        </p:txBody>
      </p:sp>
      <p:sp>
        <p:nvSpPr>
          <p:cNvPr id="99" name="Google Shape;99;p13"/>
          <p:cNvSpPr/>
          <p:nvPr/>
        </p:nvSpPr>
        <p:spPr>
          <a:xfrm>
            <a:off x="502920" y="1024128"/>
            <a:ext cx="1115568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B667E"/>
              </a:buClr>
              <a:buSzPts val="1400"/>
              <a:buFont typeface="Arial"/>
              <a:buNone/>
            </a:pPr>
            <a:r>
              <a:rPr i="1" lang="en-US" sz="1400">
                <a:solidFill>
                  <a:srgbClr val="5B667E"/>
                </a:solidFill>
                <a:latin typeface="Arial"/>
                <a:ea typeface="Arial"/>
                <a:cs typeface="Arial"/>
                <a:sym typeface="Arial"/>
              </a:rPr>
              <a:t>SO5 teamwork · SO4 professional judgment</a:t>
            </a:r>
            <a:endParaRPr sz="1400">
              <a:solidFill>
                <a:schemeClr val="dk1"/>
              </a:solidFill>
              <a:latin typeface="Calibri"/>
              <a:ea typeface="Calibri"/>
              <a:cs typeface="Calibri"/>
              <a:sym typeface="Calibri"/>
            </a:endParaRPr>
          </a:p>
        </p:txBody>
      </p:sp>
      <p:sp>
        <p:nvSpPr>
          <p:cNvPr id="100" name="Google Shape;100;p13"/>
          <p:cNvSpPr txBox="1"/>
          <p:nvPr/>
        </p:nvSpPr>
        <p:spPr>
          <a:xfrm>
            <a:off x="399197" y="1627611"/>
            <a:ext cx="11065216" cy="107721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600">
                <a:solidFill>
                  <a:schemeClr val="dk1"/>
                </a:solidFill>
                <a:latin typeface="Arial"/>
                <a:ea typeface="Arial"/>
                <a:cs typeface="Arial"/>
                <a:sym typeface="Arial"/>
              </a:rPr>
              <a:t>Agile Team Collaboration:</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Followed a Scrum-based workflow with regular sprint planning, progress reviews, and task assignments.</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Used GitHub to manage project documentation, version control, and team collaboration.</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Held frequent team meetings to coordinate development, testing, and deployment activities.</a:t>
            </a:r>
            <a:endParaRPr/>
          </a:p>
        </p:txBody>
      </p:sp>
      <p:sp>
        <p:nvSpPr>
          <p:cNvPr id="101" name="Google Shape;101;p13"/>
          <p:cNvSpPr txBox="1"/>
          <p:nvPr/>
        </p:nvSpPr>
        <p:spPr>
          <a:xfrm>
            <a:off x="399196" y="3749040"/>
            <a:ext cx="11289884" cy="15696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1"/>
              </a:buClr>
              <a:buSzPts val="1600"/>
              <a:buFont typeface="Arial"/>
              <a:buNone/>
            </a:pPr>
            <a:r>
              <a:rPr lang="en-US" sz="1600">
                <a:solidFill>
                  <a:schemeClr val="dk1"/>
                </a:solidFill>
                <a:latin typeface="Arial"/>
                <a:ea typeface="Arial"/>
                <a:cs typeface="Arial"/>
                <a:sym typeface="Arial"/>
              </a:rPr>
              <a:t>Challenge We Overcame: </a:t>
            </a:r>
            <a:endParaRPr/>
          </a:p>
          <a:p>
            <a:pPr indent="0" lvl="0" marL="0" marR="0" rtl="0" algn="l">
              <a:spcBef>
                <a:spcPts val="0"/>
              </a:spcBef>
              <a:spcAft>
                <a:spcPts val="0"/>
              </a:spcAft>
              <a:buClr>
                <a:schemeClr val="dk1"/>
              </a:buClr>
              <a:buSzPts val="1600"/>
              <a:buFont typeface="Calibri"/>
              <a:buNone/>
            </a:pPr>
            <a:r>
              <a:t/>
            </a:r>
            <a:endParaRPr sz="1600">
              <a:solidFill>
                <a:schemeClr val="dk1"/>
              </a:solidFill>
              <a:latin typeface="Arial"/>
              <a:ea typeface="Arial"/>
              <a:cs typeface="Arial"/>
              <a:sym typeface="Arial"/>
            </a:endParaRPr>
          </a:p>
          <a:p>
            <a:pPr indent="-101600" lvl="0" marL="0" marR="0" rtl="0" algn="l">
              <a:spcBef>
                <a:spcPts val="0"/>
              </a:spcBef>
              <a:spcAft>
                <a:spcPts val="0"/>
              </a:spcAft>
              <a:buClr>
                <a:schemeClr val="dk1"/>
              </a:buClr>
              <a:buSzPts val="1600"/>
              <a:buFont typeface="Arial"/>
              <a:buChar char="•"/>
            </a:pPr>
            <a:r>
              <a:rPr b="1" lang="en-US" sz="1600">
                <a:solidFill>
                  <a:schemeClr val="dk1"/>
                </a:solidFill>
                <a:latin typeface="Arial"/>
                <a:ea typeface="Arial"/>
                <a:cs typeface="Arial"/>
                <a:sym typeface="Arial"/>
              </a:rPr>
              <a:t>Challenge:</a:t>
            </a:r>
            <a:r>
              <a:rPr lang="en-US" sz="1600">
                <a:solidFill>
                  <a:schemeClr val="dk1"/>
                </a:solidFill>
                <a:latin typeface="Arial"/>
                <a:ea typeface="Arial"/>
                <a:cs typeface="Arial"/>
                <a:sym typeface="Arial"/>
              </a:rPr>
              <a:t> Configuring and integrating Azure Virtual Machines, Active Directory, Microsoft Entra ID, and secure VPN connectivity while maintaining a secure environment. </a:t>
            </a:r>
            <a:endParaRPr/>
          </a:p>
          <a:p>
            <a:pPr indent="-101600" lvl="0" marL="0" marR="0" rtl="0" algn="l">
              <a:spcBef>
                <a:spcPts val="0"/>
              </a:spcBef>
              <a:spcAft>
                <a:spcPts val="0"/>
              </a:spcAft>
              <a:buClr>
                <a:schemeClr val="dk1"/>
              </a:buClr>
              <a:buSzPts val="1600"/>
              <a:buFont typeface="Arial"/>
              <a:buChar char="•"/>
            </a:pPr>
            <a:r>
              <a:rPr b="1" lang="en-US" sz="1600">
                <a:solidFill>
                  <a:schemeClr val="dk1"/>
                </a:solidFill>
                <a:latin typeface="Arial"/>
                <a:ea typeface="Arial"/>
                <a:cs typeface="Arial"/>
                <a:sym typeface="Arial"/>
              </a:rPr>
              <a:t>Solution:</a:t>
            </a:r>
            <a:r>
              <a:rPr lang="en-US" sz="1600">
                <a:solidFill>
                  <a:schemeClr val="dk1"/>
                </a:solidFill>
                <a:latin typeface="Arial"/>
                <a:ea typeface="Arial"/>
                <a:cs typeface="Arial"/>
                <a:sym typeface="Arial"/>
              </a:rPr>
              <a:t> Through collaboration, troubleshooting, repeated testing, and instructor feedback, we successfully deployed and validated the complete infrastructure.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4"/>
          <p:cNvSpPr/>
          <p:nvPr/>
        </p:nvSpPr>
        <p:spPr>
          <a:xfrm>
            <a:off x="502920" y="320040"/>
            <a:ext cx="111556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81E3F"/>
              </a:buClr>
              <a:buSzPts val="3200"/>
              <a:buFont typeface="Arial"/>
              <a:buNone/>
            </a:pPr>
            <a:r>
              <a:rPr b="1" lang="en-US" sz="3200">
                <a:solidFill>
                  <a:srgbClr val="081E3F"/>
                </a:solidFill>
                <a:latin typeface="Arial"/>
                <a:ea typeface="Arial"/>
                <a:cs typeface="Arial"/>
                <a:sym typeface="Arial"/>
              </a:rPr>
              <a:t>What's Next</a:t>
            </a:r>
            <a:endParaRPr sz="3200">
              <a:solidFill>
                <a:schemeClr val="dk1"/>
              </a:solidFill>
              <a:latin typeface="Calibri"/>
              <a:ea typeface="Calibri"/>
              <a:cs typeface="Calibri"/>
              <a:sym typeface="Calibri"/>
            </a:endParaRPr>
          </a:p>
        </p:txBody>
      </p:sp>
      <p:sp>
        <p:nvSpPr>
          <p:cNvPr id="108" name="Google Shape;108;p14"/>
          <p:cNvSpPr/>
          <p:nvPr/>
        </p:nvSpPr>
        <p:spPr>
          <a:xfrm>
            <a:off x="502920" y="1120877"/>
            <a:ext cx="11155680" cy="47312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1500"/>
              <a:buFont typeface="Calibri"/>
              <a:buNone/>
            </a:pPr>
            <a:r>
              <a:t/>
            </a:r>
            <a:endParaRPr i="1" sz="1500">
              <a:solidFill>
                <a:srgbClr val="5B667E"/>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rPr lang="en-US" sz="1600">
                <a:solidFill>
                  <a:schemeClr val="dk1"/>
                </a:solidFill>
                <a:latin typeface="Arial"/>
                <a:ea typeface="Arial"/>
                <a:cs typeface="Arial"/>
                <a:sym typeface="Arial"/>
              </a:rPr>
              <a:t>Future Work:</a:t>
            </a:r>
            <a:endParaRPr/>
          </a:p>
          <a:p>
            <a:pPr indent="0" lvl="0" marL="0" marR="0" rtl="0" algn="l">
              <a:spcBef>
                <a:spcPts val="0"/>
              </a:spcBef>
              <a:spcAft>
                <a:spcPts val="0"/>
              </a:spcAft>
              <a:buClr>
                <a:schemeClr val="dk1"/>
              </a:buClr>
              <a:buSzPts val="1600"/>
              <a:buFont typeface="Calibri"/>
              <a:buNone/>
            </a:pPr>
            <a:r>
              <a:t/>
            </a:r>
            <a:endParaRPr sz="1600">
              <a:solidFill>
                <a:schemeClr val="dk1"/>
              </a:solidFill>
              <a:latin typeface="Arial"/>
              <a:ea typeface="Arial"/>
              <a:cs typeface="Arial"/>
              <a:sym typeface="Arial"/>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 Expand cloud security monitoring by integrating Microsoft Sentinel or a SIEM solution for real-time threat detection and incident response.</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 Enhance disaster recovery with automated backups, replication, and failover capabilities to improve business continuity.</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Strengthen endpoint security by expanding Microsoft Intune policies, automated patch management, and device compliance monitoring.</a:t>
            </a:r>
            <a:endParaRPr/>
          </a:p>
          <a:p>
            <a:pPr indent="-285750" lvl="0" marL="285750" marR="0" rtl="0" algn="l">
              <a:spcBef>
                <a:spcPts val="0"/>
              </a:spcBef>
              <a:spcAft>
                <a:spcPts val="0"/>
              </a:spcAft>
              <a:buClr>
                <a:schemeClr val="dk1"/>
              </a:buClr>
              <a:buSzPts val="1600"/>
              <a:buFont typeface="Arial"/>
              <a:buChar char="•"/>
            </a:pPr>
            <a:r>
              <a:rPr lang="en-US" sz="1600">
                <a:solidFill>
                  <a:schemeClr val="dk1"/>
                </a:solidFill>
                <a:latin typeface="Arial"/>
                <a:ea typeface="Arial"/>
                <a:cs typeface="Arial"/>
                <a:sym typeface="Arial"/>
              </a:rPr>
              <a:t>Scale the infrastructure to support additional clinic locations, more users, and future healthcare applications while maintaining strong security.</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E3F"/>
        </a:solidFill>
      </p:bgPr>
    </p:bg>
    <p:spTree>
      <p:nvGrpSpPr>
        <p:cNvPr id="113" name="Shape 113"/>
        <p:cNvGrpSpPr/>
        <p:nvPr/>
      </p:nvGrpSpPr>
      <p:grpSpPr>
        <a:xfrm>
          <a:off x="0" y="0"/>
          <a:ext cx="0" cy="0"/>
          <a:chOff x="0" y="0"/>
          <a:chExt cx="0" cy="0"/>
        </a:xfrm>
      </p:grpSpPr>
      <p:pic>
        <p:nvPicPr>
          <p:cNvPr descr="assets/FIU_wordmark_horizontal_white.png" id="114" name="Google Shape;114;p15"/>
          <p:cNvPicPr preferRelativeResize="0"/>
          <p:nvPr/>
        </p:nvPicPr>
        <p:blipFill rotWithShape="1">
          <a:blip r:embed="rId3">
            <a:alphaModFix/>
          </a:blip>
          <a:srcRect b="0" l="0" r="0" t="0"/>
          <a:stretch/>
        </p:blipFill>
        <p:spPr>
          <a:xfrm>
            <a:off x="502920" y="457200"/>
            <a:ext cx="2011680" cy="597469"/>
          </a:xfrm>
          <a:prstGeom prst="rect">
            <a:avLst/>
          </a:prstGeom>
          <a:noFill/>
          <a:ln>
            <a:noFill/>
          </a:ln>
        </p:spPr>
      </p:pic>
      <p:sp>
        <p:nvSpPr>
          <p:cNvPr id="115" name="Google Shape;115;p15"/>
          <p:cNvSpPr/>
          <p:nvPr/>
        </p:nvSpPr>
        <p:spPr>
          <a:xfrm>
            <a:off x="502920" y="2468880"/>
            <a:ext cx="11155680" cy="10058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lang="en-US" sz="4400">
                <a:solidFill>
                  <a:srgbClr val="FFFFFF"/>
                </a:solidFill>
                <a:latin typeface="Arial"/>
                <a:ea typeface="Arial"/>
                <a:cs typeface="Arial"/>
                <a:sym typeface="Arial"/>
              </a:rPr>
              <a:t>Thank you — questions?</a:t>
            </a:r>
            <a:endParaRPr sz="4400">
              <a:solidFill>
                <a:schemeClr val="dk1"/>
              </a:solidFill>
              <a:latin typeface="Calibri"/>
              <a:ea typeface="Calibri"/>
              <a:cs typeface="Calibri"/>
              <a:sym typeface="Calibri"/>
            </a:endParaRPr>
          </a:p>
        </p:txBody>
      </p:sp>
      <p:sp>
        <p:nvSpPr>
          <p:cNvPr id="116" name="Google Shape;116;p15"/>
          <p:cNvSpPr/>
          <p:nvPr/>
        </p:nvSpPr>
        <p:spPr>
          <a:xfrm>
            <a:off x="502920" y="3749040"/>
            <a:ext cx="1115568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600">
                <a:solidFill>
                  <a:srgbClr val="CADCFC"/>
                </a:solidFill>
                <a:latin typeface="Arial"/>
                <a:ea typeface="Arial"/>
                <a:cs typeface="Arial"/>
                <a:sym typeface="Arial"/>
              </a:rPr>
              <a:t>Secure Clinic IT  ·  ‹https://github.com/sonalililah/Secure_clinic_IT›</a:t>
            </a:r>
            <a:endParaRPr sz="1600">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600"/>
              <a:buFont typeface="Arial"/>
              <a:buNone/>
            </a:pPr>
            <a:r>
              <a:rPr lang="en-US" sz="1600">
                <a:solidFill>
                  <a:srgbClr val="CADCFC"/>
                </a:solidFill>
                <a:latin typeface="Arial"/>
                <a:ea typeface="Arial"/>
                <a:cs typeface="Arial"/>
                <a:sym typeface="Arial"/>
              </a:rPr>
              <a:t>KFSCIS Capstone Program · Prof. Masoud Sadjadi · sadjadi@fiu.edu · capstone.cs.fiu.edu</a:t>
            </a:r>
            <a:endParaRPr sz="1600">
              <a:solidFill>
                <a:schemeClr val="dk1"/>
              </a:solidFill>
              <a:latin typeface="Calibri"/>
              <a:ea typeface="Calibri"/>
              <a:cs typeface="Calibri"/>
              <a:sym typeface="Calibri"/>
            </a:endParaRPr>
          </a:p>
        </p:txBody>
      </p:sp>
      <p:sp>
        <p:nvSpPr>
          <p:cNvPr id="117" name="Google Shape;117;p15"/>
          <p:cNvSpPr/>
          <p:nvPr/>
        </p:nvSpPr>
        <p:spPr>
          <a:xfrm>
            <a:off x="502920" y="5120640"/>
            <a:ext cx="111556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1A644"/>
              </a:buClr>
              <a:buSzPts val="1500"/>
              <a:buFont typeface="Arial"/>
              <a:buNone/>
            </a:pPr>
            <a:r>
              <a:rPr i="1" lang="en-US" sz="1500">
                <a:solidFill>
                  <a:srgbClr val="D1A644"/>
                </a:solidFill>
                <a:latin typeface="Arial"/>
                <a:ea typeface="Arial"/>
                <a:cs typeface="Arial"/>
                <a:sym typeface="Arial"/>
              </a:rPr>
              <a:t>Judges: evaluation window is now — thank you!</a:t>
            </a:r>
            <a:endParaRPr sz="15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