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E08A8EF-1D84-4179-9E21-3D1C97424E98}" v="11" dt="2026-07-15T18:46:03.59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7" d="100"/>
          <a:sy n="97" d="100"/>
        </p:scale>
        <p:origin x="102" y="3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onali mohammed" userId="a3b4966e38a4eeec" providerId="LiveId" clId="{7A56F860-85DA-44D2-8A1D-AFFE5288B0EE}"/>
    <pc:docChg chg="undo custSel modSld">
      <pc:chgData name="sonali mohammed" userId="a3b4966e38a4eeec" providerId="LiveId" clId="{7A56F860-85DA-44D2-8A1D-AFFE5288B0EE}" dt="2026-07-15T18:59:44.734" v="1669" actId="14100"/>
      <pc:docMkLst>
        <pc:docMk/>
      </pc:docMkLst>
      <pc:sldChg chg="modSp mod">
        <pc:chgData name="sonali mohammed" userId="a3b4966e38a4eeec" providerId="LiveId" clId="{7A56F860-85DA-44D2-8A1D-AFFE5288B0EE}" dt="2026-07-14T22:31:11.369" v="1635" actId="20577"/>
        <pc:sldMkLst>
          <pc:docMk/>
          <pc:sldMk cId="0" sldId="257"/>
        </pc:sldMkLst>
        <pc:graphicFrameChg chg="modGraphic">
          <ac:chgData name="sonali mohammed" userId="a3b4966e38a4eeec" providerId="LiveId" clId="{7A56F860-85DA-44D2-8A1D-AFFE5288B0EE}" dt="2026-07-14T22:31:11.369" v="1635" actId="20577"/>
          <ac:graphicFrameMkLst>
            <pc:docMk/>
            <pc:sldMk cId="0" sldId="257"/>
            <ac:graphicFrameMk id="5" creationId="{2F6EFB04-E9AB-FDC0-F1DB-C1C5F73F4B0C}"/>
          </ac:graphicFrameMkLst>
        </pc:graphicFrameChg>
      </pc:sldChg>
      <pc:sldChg chg="addSp modSp mod">
        <pc:chgData name="sonali mohammed" userId="a3b4966e38a4eeec" providerId="LiveId" clId="{7A56F860-85DA-44D2-8A1D-AFFE5288B0EE}" dt="2026-07-15T18:48:58.744" v="1659" actId="14100"/>
        <pc:sldMkLst>
          <pc:docMk/>
          <pc:sldMk cId="0" sldId="258"/>
        </pc:sldMkLst>
        <pc:spChg chg="add">
          <ac:chgData name="sonali mohammed" userId="a3b4966e38a4eeec" providerId="LiveId" clId="{7A56F860-85DA-44D2-8A1D-AFFE5288B0EE}" dt="2026-07-15T18:46:00.598" v="1643"/>
          <ac:spMkLst>
            <pc:docMk/>
            <pc:sldMk cId="0" sldId="258"/>
            <ac:spMk id="3" creationId="{941FCACD-78B7-C6C9-FEFF-8B153A35D2F9}"/>
          </ac:spMkLst>
        </pc:spChg>
        <pc:spChg chg="mod">
          <ac:chgData name="sonali mohammed" userId="a3b4966e38a4eeec" providerId="LiveId" clId="{7A56F860-85DA-44D2-8A1D-AFFE5288B0EE}" dt="2026-07-13T16:21:25.593" v="1555" actId="255"/>
          <ac:spMkLst>
            <pc:docMk/>
            <pc:sldMk cId="0" sldId="258"/>
            <ac:spMk id="4" creationId="{00000000-0000-0000-0000-000000000000}"/>
          </ac:spMkLst>
        </pc:spChg>
        <pc:picChg chg="add mod modCrop">
          <ac:chgData name="sonali mohammed" userId="a3b4966e38a4eeec" providerId="LiveId" clId="{7A56F860-85DA-44D2-8A1D-AFFE5288B0EE}" dt="2026-07-15T18:48:58.744" v="1659" actId="14100"/>
          <ac:picMkLst>
            <pc:docMk/>
            <pc:sldMk cId="0" sldId="258"/>
            <ac:picMk id="8" creationId="{AB3467EB-2276-6DDF-26F8-2D8443A5B3BB}"/>
          </ac:picMkLst>
        </pc:picChg>
      </pc:sldChg>
      <pc:sldChg chg="delSp modSp mod">
        <pc:chgData name="sonali mohammed" userId="a3b4966e38a4eeec" providerId="LiveId" clId="{7A56F860-85DA-44D2-8A1D-AFFE5288B0EE}" dt="2026-07-14T22:45:53.507" v="1642" actId="14100"/>
        <pc:sldMkLst>
          <pc:docMk/>
          <pc:sldMk cId="0" sldId="259"/>
        </pc:sldMkLst>
        <pc:spChg chg="mod">
          <ac:chgData name="sonali mohammed" userId="a3b4966e38a4eeec" providerId="LiveId" clId="{7A56F860-85DA-44D2-8A1D-AFFE5288B0EE}" dt="2026-07-14T22:45:53.507" v="1642" actId="14100"/>
          <ac:spMkLst>
            <pc:docMk/>
            <pc:sldMk cId="0" sldId="259"/>
            <ac:spMk id="4" creationId="{00000000-0000-0000-0000-000000000000}"/>
          </ac:spMkLst>
        </pc:spChg>
        <pc:spChg chg="del">
          <ac:chgData name="sonali mohammed" userId="a3b4966e38a4eeec" providerId="LiveId" clId="{7A56F860-85DA-44D2-8A1D-AFFE5288B0EE}" dt="2026-07-14T22:45:43.638" v="1639" actId="478"/>
          <ac:spMkLst>
            <pc:docMk/>
            <pc:sldMk cId="0" sldId="259"/>
            <ac:spMk id="5" creationId="{00000000-0000-0000-0000-000000000000}"/>
          </ac:spMkLst>
        </pc:spChg>
        <pc:spChg chg="del mod">
          <ac:chgData name="sonali mohammed" userId="a3b4966e38a4eeec" providerId="LiveId" clId="{7A56F860-85DA-44D2-8A1D-AFFE5288B0EE}" dt="2026-07-14T22:45:40.159" v="1638" actId="21"/>
          <ac:spMkLst>
            <pc:docMk/>
            <pc:sldMk cId="0" sldId="259"/>
            <ac:spMk id="6" creationId="{00000000-0000-0000-0000-000000000000}"/>
          </ac:spMkLst>
        </pc:spChg>
      </pc:sldChg>
      <pc:sldChg chg="addSp delSp modSp mod">
        <pc:chgData name="sonali mohammed" userId="a3b4966e38a4eeec" providerId="LiveId" clId="{7A56F860-85DA-44D2-8A1D-AFFE5288B0EE}" dt="2026-07-15T18:59:14.385" v="1666" actId="14100"/>
        <pc:sldMkLst>
          <pc:docMk/>
          <pc:sldMk cId="0" sldId="260"/>
        </pc:sldMkLst>
        <pc:spChg chg="mod">
          <ac:chgData name="sonali mohammed" userId="a3b4966e38a4eeec" providerId="LiveId" clId="{7A56F860-85DA-44D2-8A1D-AFFE5288B0EE}" dt="2026-07-13T16:22:32.529" v="1562" actId="1076"/>
          <ac:spMkLst>
            <pc:docMk/>
            <pc:sldMk cId="0" sldId="260"/>
            <ac:spMk id="4" creationId="{00000000-0000-0000-0000-000000000000}"/>
          </ac:spMkLst>
        </pc:spChg>
        <pc:spChg chg="add mod">
          <ac:chgData name="sonali mohammed" userId="a3b4966e38a4eeec" providerId="LiveId" clId="{7A56F860-85DA-44D2-8A1D-AFFE5288B0EE}" dt="2026-07-13T16:21:47.026" v="1558" actId="2711"/>
          <ac:spMkLst>
            <pc:docMk/>
            <pc:sldMk cId="0" sldId="260"/>
            <ac:spMk id="8" creationId="{3295444D-FD76-C14F-1DBB-B9A66016FEF0}"/>
          </ac:spMkLst>
        </pc:spChg>
        <pc:picChg chg="add mod modCrop">
          <ac:chgData name="sonali mohammed" userId="a3b4966e38a4eeec" providerId="LiveId" clId="{7A56F860-85DA-44D2-8A1D-AFFE5288B0EE}" dt="2026-07-15T18:59:14.385" v="1666" actId="14100"/>
          <ac:picMkLst>
            <pc:docMk/>
            <pc:sldMk cId="0" sldId="260"/>
            <ac:picMk id="7" creationId="{DD5F20EC-929D-47AE-5434-A18CA2A820B7}"/>
          </ac:picMkLst>
        </pc:picChg>
      </pc:sldChg>
      <pc:sldChg chg="addSp delSp modSp mod">
        <pc:chgData name="sonali mohammed" userId="a3b4966e38a4eeec" providerId="LiveId" clId="{7A56F860-85DA-44D2-8A1D-AFFE5288B0EE}" dt="2026-07-13T15:55:41.906" v="260" actId="14100"/>
        <pc:sldMkLst>
          <pc:docMk/>
          <pc:sldMk cId="0" sldId="261"/>
        </pc:sldMkLst>
        <pc:spChg chg="mod">
          <ac:chgData name="sonali mohammed" userId="a3b4966e38a4eeec" providerId="LiveId" clId="{7A56F860-85DA-44D2-8A1D-AFFE5288B0EE}" dt="2026-07-13T15:53:47.829" v="242" actId="14100"/>
          <ac:spMkLst>
            <pc:docMk/>
            <pc:sldMk cId="0" sldId="261"/>
            <ac:spMk id="4" creationId="{00000000-0000-0000-0000-000000000000}"/>
          </ac:spMkLst>
        </pc:spChg>
        <pc:picChg chg="add mod">
          <ac:chgData name="sonali mohammed" userId="a3b4966e38a4eeec" providerId="LiveId" clId="{7A56F860-85DA-44D2-8A1D-AFFE5288B0EE}" dt="2026-07-13T15:55:41.906" v="260" actId="14100"/>
          <ac:picMkLst>
            <pc:docMk/>
            <pc:sldMk cId="0" sldId="261"/>
            <ac:picMk id="11" creationId="{EDC07EDB-229C-AFAD-620C-5069AA91CF7C}"/>
          </ac:picMkLst>
        </pc:picChg>
      </pc:sldChg>
      <pc:sldChg chg="modSp mod">
        <pc:chgData name="sonali mohammed" userId="a3b4966e38a4eeec" providerId="LiveId" clId="{7A56F860-85DA-44D2-8A1D-AFFE5288B0EE}" dt="2026-07-13T16:23:13.357" v="1564" actId="207"/>
        <pc:sldMkLst>
          <pc:docMk/>
          <pc:sldMk cId="0" sldId="263"/>
        </pc:sldMkLst>
        <pc:spChg chg="mod">
          <ac:chgData name="sonali mohammed" userId="a3b4966e38a4eeec" providerId="LiveId" clId="{7A56F860-85DA-44D2-8A1D-AFFE5288B0EE}" dt="2026-07-13T16:01:48.691" v="323" actId="20577"/>
          <ac:spMkLst>
            <pc:docMk/>
            <pc:sldMk cId="0" sldId="263"/>
            <ac:spMk id="3" creationId="{00000000-0000-0000-0000-000000000000}"/>
          </ac:spMkLst>
        </pc:spChg>
        <pc:spChg chg="mod">
          <ac:chgData name="sonali mohammed" userId="a3b4966e38a4eeec" providerId="LiveId" clId="{7A56F860-85DA-44D2-8A1D-AFFE5288B0EE}" dt="2026-07-13T16:23:13.357" v="1564" actId="207"/>
          <ac:spMkLst>
            <pc:docMk/>
            <pc:sldMk cId="0" sldId="263"/>
            <ac:spMk id="4" creationId="{00000000-0000-0000-0000-000000000000}"/>
          </ac:spMkLst>
        </pc:spChg>
      </pc:sldChg>
      <pc:sldChg chg="addSp modSp mod">
        <pc:chgData name="sonali mohammed" userId="a3b4966e38a4eeec" providerId="LiveId" clId="{7A56F860-85DA-44D2-8A1D-AFFE5288B0EE}" dt="2026-07-13T16:23:42.278" v="1569" actId="255"/>
        <pc:sldMkLst>
          <pc:docMk/>
          <pc:sldMk cId="0" sldId="264"/>
        </pc:sldMkLst>
        <pc:spChg chg="mod">
          <ac:chgData name="sonali mohammed" userId="a3b4966e38a4eeec" providerId="LiveId" clId="{7A56F860-85DA-44D2-8A1D-AFFE5288B0EE}" dt="2026-07-13T16:23:26.041" v="1567" actId="207"/>
          <ac:spMkLst>
            <pc:docMk/>
            <pc:sldMk cId="0" sldId="264"/>
            <ac:spMk id="4" creationId="{00000000-0000-0000-0000-000000000000}"/>
          </ac:spMkLst>
        </pc:spChg>
        <pc:spChg chg="mod">
          <ac:chgData name="sonali mohammed" userId="a3b4966e38a4eeec" providerId="LiveId" clId="{7A56F860-85DA-44D2-8A1D-AFFE5288B0EE}" dt="2026-07-13T16:10:35.856" v="1103" actId="20577"/>
          <ac:spMkLst>
            <pc:docMk/>
            <pc:sldMk cId="0" sldId="264"/>
            <ac:spMk id="6" creationId="{00000000-0000-0000-0000-000000000000}"/>
          </ac:spMkLst>
        </pc:spChg>
        <pc:graphicFrameChg chg="add mod modGraphic">
          <ac:chgData name="sonali mohammed" userId="a3b4966e38a4eeec" providerId="LiveId" clId="{7A56F860-85DA-44D2-8A1D-AFFE5288B0EE}" dt="2026-07-13T16:23:42.278" v="1569" actId="255"/>
          <ac:graphicFrameMkLst>
            <pc:docMk/>
            <pc:sldMk cId="0" sldId="264"/>
            <ac:graphicFrameMk id="8" creationId="{4448FA16-11B2-12BA-D8B0-540A7D3556E3}"/>
          </ac:graphicFrameMkLst>
        </pc:graphicFrameChg>
      </pc:sldChg>
      <pc:sldChg chg="addSp modSp mod">
        <pc:chgData name="sonali mohammed" userId="a3b4966e38a4eeec" providerId="LiveId" clId="{7A56F860-85DA-44D2-8A1D-AFFE5288B0EE}" dt="2026-07-15T18:59:44.734" v="1669" actId="14100"/>
        <pc:sldMkLst>
          <pc:docMk/>
          <pc:sldMk cId="0" sldId="265"/>
        </pc:sldMkLst>
        <pc:spChg chg="mod">
          <ac:chgData name="sonali mohammed" userId="a3b4966e38a4eeec" providerId="LiveId" clId="{7A56F860-85DA-44D2-8A1D-AFFE5288B0EE}" dt="2026-07-13T16:16:14.724" v="1533" actId="20577"/>
          <ac:spMkLst>
            <pc:docMk/>
            <pc:sldMk cId="0" sldId="265"/>
            <ac:spMk id="4" creationId="{00000000-0000-0000-0000-000000000000}"/>
          </ac:spMkLst>
        </pc:spChg>
        <pc:spChg chg="add mod">
          <ac:chgData name="sonali mohammed" userId="a3b4966e38a4eeec" providerId="LiveId" clId="{7A56F860-85DA-44D2-8A1D-AFFE5288B0EE}" dt="2026-07-15T18:59:35.367" v="1668" actId="14100"/>
          <ac:spMkLst>
            <pc:docMk/>
            <pc:sldMk cId="0" sldId="265"/>
            <ac:spMk id="6" creationId="{70A53021-3EBA-6392-0BC0-C4AC4ECF1DD4}"/>
          </ac:spMkLst>
        </pc:spChg>
        <pc:spChg chg="add mod">
          <ac:chgData name="sonali mohammed" userId="a3b4966e38a4eeec" providerId="LiveId" clId="{7A56F860-85DA-44D2-8A1D-AFFE5288B0EE}" dt="2026-07-15T18:59:44.734" v="1669" actId="14100"/>
          <ac:spMkLst>
            <pc:docMk/>
            <pc:sldMk cId="0" sldId="265"/>
            <ac:spMk id="8" creationId="{DF34C503-E46C-93DD-1992-8B5D914B2833}"/>
          </ac:spMkLst>
        </pc:spChg>
      </pc:sldChg>
      <pc:sldChg chg="delSp modSp mod">
        <pc:chgData name="sonali mohammed" userId="a3b4966e38a4eeec" providerId="LiveId" clId="{7A56F860-85DA-44D2-8A1D-AFFE5288B0EE}" dt="2026-07-13T16:24:50.193" v="1584" actId="14100"/>
        <pc:sldMkLst>
          <pc:docMk/>
          <pc:sldMk cId="0" sldId="266"/>
        </pc:sldMkLst>
        <pc:spChg chg="mod">
          <ac:chgData name="sonali mohammed" userId="a3b4966e38a4eeec" providerId="LiveId" clId="{7A56F860-85DA-44D2-8A1D-AFFE5288B0EE}" dt="2026-07-13T16:24:50.193" v="1584" actId="14100"/>
          <ac:spMkLst>
            <pc:docMk/>
            <pc:sldMk cId="0" sldId="266"/>
            <ac:spMk id="4" creationId="{00000000-0000-0000-0000-000000000000}"/>
          </ac:spMkLst>
        </pc:spChg>
      </pc:sldChg>
      <pc:sldChg chg="modSp mod">
        <pc:chgData name="sonali mohammed" userId="a3b4966e38a4eeec" providerId="LiveId" clId="{7A56F860-85DA-44D2-8A1D-AFFE5288B0EE}" dt="2026-07-13T17:24:22.146" v="1634" actId="20577"/>
        <pc:sldMkLst>
          <pc:docMk/>
          <pc:sldMk cId="0" sldId="267"/>
        </pc:sldMkLst>
        <pc:spChg chg="mod">
          <ac:chgData name="sonali mohammed" userId="a3b4966e38a4eeec" providerId="LiveId" clId="{7A56F860-85DA-44D2-8A1D-AFFE5288B0EE}" dt="2026-07-13T17:24:22.146" v="1634" actId="20577"/>
          <ac:spMkLst>
            <pc:docMk/>
            <pc:sldMk cId="0" sldId="267"/>
            <ac:spMk id="4"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089516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flow: 3 min intro (this + next 2 slides) - 10 min demo - 9 min judge Q&amp;A - 4 min open Q&amp;A - 4 min grading/reset. Team leader opens: introduce yourself, your team, and the project in one breath.</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every member's name out loud. Remember: each team member must personally present in at least one round.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the 3-minute intro here; hand off to the demo driver.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from the native Zoom app. Share only the presentation/app window. Backup video ready. 10 minutes, rehearsed.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SO6 (IT): Use systemic approaches to select, develop, apply, integrate, and administer secure computing technologies to accomplish user goals. — judges are listening for exactly this. Adapt these bullets to what YOUR project actually did; cut any that don't apply and add the missing ones from your documentation Chapter 7.</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Q&amp;A: judges first (9 min), then open floor (4 min). Final 4 minutes: judges grade, team resets for the next round. Do NOT end the Zoom meeting between rounds.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a:effectLst/>
      </p:bgPr>
    </p:bg>
    <p:spTree>
      <p:nvGrpSpPr>
        <p:cNvPr id="1" name=""/>
        <p:cNvGrpSpPr/>
        <p:nvPr/>
      </p:nvGrpSpPr>
      <p:grpSpPr>
        <a:xfrm>
          <a:off x="0" y="0"/>
          <a:ext cx="0" cy="0"/>
          <a:chOff x="0" y="0"/>
          <a:chExt cx="0" cy="0"/>
        </a:xfrm>
      </p:grpSpPr>
      <p:pic>
        <p:nvPicPr>
          <p:cNvPr id="2" name="Image 0" descr="assets/FIU_wordmark_horizontal_navy.png"/>
          <p:cNvPicPr>
            <a:picLocks noChangeAspect="1"/>
          </p:cNvPicPr>
          <p:nvPr/>
        </p:nvPicPr>
        <p:blipFill>
          <a:blip r:embed="rId2"/>
          <a:stretch>
            <a:fillRect/>
          </a:stretch>
        </p:blipFill>
        <p:spPr>
          <a:xfrm>
            <a:off x="10561320" y="6419088"/>
            <a:ext cx="1325880" cy="393786"/>
          </a:xfrm>
          <a:prstGeom prst="rect">
            <a:avLst/>
          </a:prstGeom>
        </p:spPr>
      </p:pic>
      <p:sp>
        <p:nvSpPr>
          <p:cNvPr id="3" name="Text 0"/>
          <p:cNvSpPr/>
          <p:nvPr/>
        </p:nvSpPr>
        <p:spPr>
          <a:xfrm>
            <a:off x="320040" y="6455664"/>
            <a:ext cx="5486400" cy="292608"/>
          </a:xfrm>
          <a:prstGeom prst="rect">
            <a:avLst/>
          </a:prstGeom>
          <a:noFill/>
          <a:ln/>
        </p:spPr>
        <p:txBody>
          <a:bodyPr wrap="square" lIns="0" tIns="0" rIns="0" bIns="0" rtlCol="0" anchor="ctr"/>
          <a:lstStyle/>
          <a:p>
            <a:pPr marL="0" indent="0">
              <a:buNone/>
            </a:pPr>
            <a:r>
              <a:rPr lang="en-US" sz="900" dirty="0">
                <a:solidFill>
                  <a:srgbClr val="5B667E"/>
                </a:solidFill>
                <a:latin typeface="Arial" pitchFamily="34" charset="0"/>
                <a:ea typeface="Arial" pitchFamily="34" charset="-122"/>
                <a:cs typeface="Arial" pitchFamily="34" charset="-120"/>
              </a:rPr>
              <a:t>‹Project› · IT · SU26 Showcase</a:t>
            </a:r>
            <a:endParaRPr lang="en-US" sz="9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81E3F"/>
        </a:solidFill>
        <a:effectLst/>
      </p:bgPr>
    </p:bg>
    <p:spTree>
      <p:nvGrpSpPr>
        <p:cNvPr id="1" name=""/>
        <p:cNvGrpSpPr/>
        <p:nvPr/>
      </p:nvGrpSpPr>
      <p:grpSpPr>
        <a:xfrm>
          <a:off x="0" y="0"/>
          <a:ext cx="0" cy="0"/>
          <a:chOff x="0" y="0"/>
          <a:chExt cx="0" cy="0"/>
        </a:xfrm>
      </p:grpSpPr>
      <p:pic>
        <p:nvPicPr>
          <p:cNvPr id="2" name="Image 0" descr="assets/FIU_wordmark_horizontal_white.png"/>
          <p:cNvPicPr>
            <a:picLocks noChangeAspect="1"/>
          </p:cNvPicPr>
          <p:nvPr/>
        </p:nvPicPr>
        <p:blipFill>
          <a:blip r:embed="rId3"/>
          <a:stretch>
            <a:fillRect/>
          </a:stretch>
        </p:blipFill>
        <p:spPr>
          <a:xfrm>
            <a:off x="502920" y="457200"/>
            <a:ext cx="2011680" cy="597469"/>
          </a:xfrm>
          <a:prstGeom prst="rect">
            <a:avLst/>
          </a:prstGeom>
        </p:spPr>
      </p:pic>
      <p:sp>
        <p:nvSpPr>
          <p:cNvPr id="3" name="Text 0"/>
          <p:cNvSpPr/>
          <p:nvPr/>
        </p:nvSpPr>
        <p:spPr>
          <a:xfrm>
            <a:off x="502920" y="2286000"/>
            <a:ext cx="11155680" cy="1280160"/>
          </a:xfrm>
          <a:prstGeom prst="rect">
            <a:avLst/>
          </a:prstGeom>
          <a:noFill/>
          <a:ln/>
        </p:spPr>
        <p:txBody>
          <a:bodyPr wrap="square" lIns="0" tIns="0" rIns="0" bIns="0" rtlCol="0" anchor="ctr">
            <a:normAutofit fontScale="70000" lnSpcReduction="20000"/>
          </a:bodyPr>
          <a:lstStyle/>
          <a:p>
            <a:pPr marL="0" indent="0">
              <a:buNone/>
            </a:pPr>
            <a:r>
              <a:rPr lang="en-US" sz="5400" b="1" dirty="0">
                <a:solidFill>
                  <a:srgbClr val="FFFFFF"/>
                </a:solidFill>
                <a:latin typeface="Arial" pitchFamily="34" charset="0"/>
                <a:ea typeface="Arial" pitchFamily="34" charset="-122"/>
                <a:cs typeface="Arial" pitchFamily="34" charset="-120"/>
              </a:rPr>
              <a:t>Secure Clinic IT Infrastructure: Implementation, Deployment, and Security Validation</a:t>
            </a:r>
            <a:endParaRPr lang="en-US" sz="5400" dirty="0"/>
          </a:p>
        </p:txBody>
      </p:sp>
      <p:sp>
        <p:nvSpPr>
          <p:cNvPr id="4" name="Text 1"/>
          <p:cNvSpPr/>
          <p:nvPr/>
        </p:nvSpPr>
        <p:spPr>
          <a:xfrm>
            <a:off x="502920" y="3611880"/>
            <a:ext cx="11155680" cy="548640"/>
          </a:xfrm>
          <a:prstGeom prst="rect">
            <a:avLst/>
          </a:prstGeom>
          <a:noFill/>
          <a:ln/>
        </p:spPr>
        <p:txBody>
          <a:bodyPr wrap="square" lIns="0" tIns="0" rIns="0" bIns="0" rtlCol="0" anchor="ctr">
            <a:normAutofit lnSpcReduction="10000"/>
          </a:bodyPr>
          <a:lstStyle/>
          <a:p>
            <a:pPr marL="0" indent="0">
              <a:buNone/>
            </a:pPr>
            <a:r>
              <a:rPr lang="en-US" sz="2000" dirty="0">
                <a:solidFill>
                  <a:srgbClr val="D1A644"/>
                </a:solidFill>
                <a:latin typeface="Arial" pitchFamily="34" charset="0"/>
                <a:ea typeface="Arial" pitchFamily="34" charset="-122"/>
                <a:cs typeface="Arial" pitchFamily="34" charset="-120"/>
              </a:rPr>
              <a:t>Provides a secure, Azure-based IT infrastructure that protects healthcare data and enables safe, reliable access for small healthcare clinics.</a:t>
            </a:r>
            <a:endParaRPr lang="en-US" sz="2000" dirty="0"/>
          </a:p>
        </p:txBody>
      </p:sp>
      <p:sp>
        <p:nvSpPr>
          <p:cNvPr id="5" name="Text 2"/>
          <p:cNvSpPr/>
          <p:nvPr/>
        </p:nvSpPr>
        <p:spPr>
          <a:xfrm>
            <a:off x="502920" y="4846320"/>
            <a:ext cx="11155680" cy="1463040"/>
          </a:xfrm>
          <a:prstGeom prst="rect">
            <a:avLst/>
          </a:prstGeom>
          <a:noFill/>
          <a:ln/>
        </p:spPr>
        <p:txBody>
          <a:bodyPr wrap="square" lIns="0" tIns="0" rIns="0" bIns="0" rtlCol="0" anchor="ctr"/>
          <a:lstStyle/>
          <a:p>
            <a:pPr marL="0" indent="0">
              <a:buNone/>
            </a:pPr>
            <a:r>
              <a:rPr lang="en-US" sz="1500" dirty="0">
                <a:solidFill>
                  <a:srgbClr val="CADCFC"/>
                </a:solidFill>
                <a:latin typeface="Arial" pitchFamily="34" charset="0"/>
                <a:ea typeface="Arial" pitchFamily="34" charset="-122"/>
                <a:cs typeface="Arial" pitchFamily="34" charset="-120"/>
              </a:rPr>
              <a:t>Team members — Justin Barroso, Demetrius Smith, Sonali Mohammed, Santiago Ferreira Rolon, David Alonso</a:t>
            </a:r>
            <a:endParaRPr lang="en-US" sz="1500" dirty="0"/>
          </a:p>
          <a:p>
            <a:pPr marL="0" indent="0">
              <a:buNone/>
            </a:pPr>
            <a:r>
              <a:rPr lang="en-US" sz="1500" dirty="0">
                <a:solidFill>
                  <a:srgbClr val="CADCFC"/>
                </a:solidFill>
                <a:latin typeface="Arial" pitchFamily="34" charset="0"/>
                <a:ea typeface="Arial" pitchFamily="34" charset="-122"/>
                <a:cs typeface="Arial" pitchFamily="34" charset="-120"/>
              </a:rPr>
              <a:t> Instructor: Prof. Masoud Sadjadi</a:t>
            </a:r>
            <a:endParaRPr lang="en-US" sz="1500" dirty="0"/>
          </a:p>
          <a:p>
            <a:pPr marL="0" indent="0">
              <a:buNone/>
            </a:pPr>
            <a:r>
              <a:rPr lang="en-US" sz="1500" dirty="0">
                <a:solidFill>
                  <a:srgbClr val="CADCFC"/>
                </a:solidFill>
                <a:latin typeface="Arial" pitchFamily="34" charset="0"/>
                <a:ea typeface="Arial" pitchFamily="34" charset="-122"/>
                <a:cs typeface="Arial" pitchFamily="34" charset="-120"/>
              </a:rPr>
              <a:t>Information Technology · Capstone 2 · Summer 2026 Virtual Showcase · FIU KFSCIS</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320040"/>
            <a:ext cx="11155680" cy="731520"/>
          </a:xfrm>
          <a:prstGeom prst="rect">
            <a:avLst/>
          </a:prstGeom>
          <a:noFill/>
          <a:ln/>
        </p:spPr>
        <p:txBody>
          <a:bodyPr wrap="square" lIns="0" tIns="0" rIns="0" bIns="0" rtlCol="0" anchor="ctr">
            <a:normAutofit/>
          </a:bodyPr>
          <a:lstStyle/>
          <a:p>
            <a:pPr marL="0" indent="0">
              <a:buNone/>
            </a:pPr>
            <a:r>
              <a:rPr lang="en-US" sz="3200" b="1" dirty="0">
                <a:solidFill>
                  <a:srgbClr val="081E3F"/>
                </a:solidFill>
                <a:latin typeface="Arial" pitchFamily="34" charset="0"/>
                <a:ea typeface="Arial" pitchFamily="34" charset="-122"/>
                <a:cs typeface="Arial" pitchFamily="34" charset="-120"/>
              </a:rPr>
              <a:t>The Team</a:t>
            </a:r>
            <a:endParaRPr lang="en-US" sz="3200" dirty="0"/>
          </a:p>
        </p:txBody>
      </p:sp>
      <p:sp>
        <p:nvSpPr>
          <p:cNvPr id="3" name="Text 1"/>
          <p:cNvSpPr/>
          <p:nvPr/>
        </p:nvSpPr>
        <p:spPr>
          <a:xfrm>
            <a:off x="502920" y="1024128"/>
            <a:ext cx="11155680" cy="365760"/>
          </a:xfrm>
          <a:prstGeom prst="rect">
            <a:avLst/>
          </a:prstGeom>
          <a:noFill/>
          <a:ln/>
        </p:spPr>
        <p:txBody>
          <a:bodyPr wrap="square" lIns="0" tIns="0" rIns="0" bIns="0" rtlCol="0" anchor="ctr"/>
          <a:lstStyle/>
          <a:p>
            <a:pPr marL="0" indent="0">
              <a:buNone/>
            </a:pPr>
            <a:r>
              <a:rPr lang="en-US" sz="1400" i="1" dirty="0">
                <a:solidFill>
                  <a:srgbClr val="5B667E"/>
                </a:solidFill>
                <a:latin typeface="Arial" pitchFamily="34" charset="0"/>
                <a:ea typeface="Arial" pitchFamily="34" charset="-122"/>
                <a:cs typeface="Arial" pitchFamily="34" charset="-120"/>
              </a:rPr>
              <a:t>3-minute intro segment — keep this to 30 seconds</a:t>
            </a:r>
            <a:endParaRPr lang="en-US" sz="1400" dirty="0"/>
          </a:p>
        </p:txBody>
      </p:sp>
      <p:sp>
        <p:nvSpPr>
          <p:cNvPr id="4" name="Text 2"/>
          <p:cNvSpPr/>
          <p:nvPr/>
        </p:nvSpPr>
        <p:spPr>
          <a:xfrm>
            <a:off x="502920" y="1645920"/>
            <a:ext cx="11155680" cy="4206240"/>
          </a:xfrm>
          <a:prstGeom prst="rect">
            <a:avLst/>
          </a:prstGeom>
          <a:noFill/>
          <a:ln/>
        </p:spPr>
        <p:txBody>
          <a:bodyPr wrap="square" lIns="0" tIns="0" rIns="0" bIns="0" rtlCol="0" anchor="t">
            <a:normAutofit/>
          </a:bodyPr>
          <a:lstStyle/>
          <a:p>
            <a:pPr marL="0" indent="0">
              <a:buNone/>
            </a:pPr>
            <a:r>
              <a:rPr lang="en-US" sz="1500" i="1" dirty="0">
                <a:solidFill>
                  <a:srgbClr val="5B667E"/>
                </a:solidFill>
                <a:latin typeface="Arial" pitchFamily="34" charset="0"/>
                <a:ea typeface="Arial" pitchFamily="34" charset="-122"/>
                <a:cs typeface="Arial" pitchFamily="34" charset="-120"/>
              </a:rPr>
              <a:t> </a:t>
            </a:r>
          </a:p>
          <a:p>
            <a:pPr marL="0" indent="0">
              <a:buNone/>
            </a:pPr>
            <a:endParaRPr lang="en-US" sz="1500" i="1" dirty="0">
              <a:solidFill>
                <a:srgbClr val="5B667E"/>
              </a:solidFill>
              <a:latin typeface="Arial" pitchFamily="34" charset="0"/>
              <a:cs typeface="Arial" pitchFamily="34" charset="-120"/>
            </a:endParaRPr>
          </a:p>
          <a:p>
            <a:pPr marL="0" indent="0">
              <a:buNone/>
            </a:pPr>
            <a:endParaRPr lang="en-US" sz="1500" dirty="0"/>
          </a:p>
        </p:txBody>
      </p:sp>
      <p:graphicFrame>
        <p:nvGraphicFramePr>
          <p:cNvPr id="5" name="Table 4">
            <a:extLst>
              <a:ext uri="{FF2B5EF4-FFF2-40B4-BE49-F238E27FC236}">
                <a16:creationId xmlns:a16="http://schemas.microsoft.com/office/drawing/2014/main" id="{2F6EFB04-E9AB-FDC0-F1DB-C1C5F73F4B0C}"/>
              </a:ext>
            </a:extLst>
          </p:cNvPr>
          <p:cNvGraphicFramePr>
            <a:graphicFrameLocks noGrp="1"/>
          </p:cNvGraphicFramePr>
          <p:nvPr>
            <p:extLst>
              <p:ext uri="{D42A27DB-BD31-4B8C-83A1-F6EECF244321}">
                <p14:modId xmlns:p14="http://schemas.microsoft.com/office/powerpoint/2010/main" val="41492677"/>
              </p:ext>
            </p:extLst>
          </p:nvPr>
        </p:nvGraphicFramePr>
        <p:xfrm>
          <a:off x="502920" y="2262823"/>
          <a:ext cx="8398193" cy="3566700"/>
        </p:xfrm>
        <a:graphic>
          <a:graphicData uri="http://schemas.openxmlformats.org/drawingml/2006/table">
            <a:tbl>
              <a:tblPr>
                <a:tableStyleId>{5C22544A-7EE6-4342-B048-85BDC9FD1C3A}</a:tableStyleId>
              </a:tblPr>
              <a:tblGrid>
                <a:gridCol w="2153383">
                  <a:extLst>
                    <a:ext uri="{9D8B030D-6E8A-4147-A177-3AD203B41FA5}">
                      <a16:colId xmlns:a16="http://schemas.microsoft.com/office/drawing/2014/main" val="3379831509"/>
                    </a:ext>
                  </a:extLst>
                </a:gridCol>
                <a:gridCol w="2153383">
                  <a:extLst>
                    <a:ext uri="{9D8B030D-6E8A-4147-A177-3AD203B41FA5}">
                      <a16:colId xmlns:a16="http://schemas.microsoft.com/office/drawing/2014/main" val="3744833496"/>
                    </a:ext>
                  </a:extLst>
                </a:gridCol>
                <a:gridCol w="2296941">
                  <a:extLst>
                    <a:ext uri="{9D8B030D-6E8A-4147-A177-3AD203B41FA5}">
                      <a16:colId xmlns:a16="http://schemas.microsoft.com/office/drawing/2014/main" val="2909703145"/>
                    </a:ext>
                  </a:extLst>
                </a:gridCol>
                <a:gridCol w="1794486">
                  <a:extLst>
                    <a:ext uri="{9D8B030D-6E8A-4147-A177-3AD203B41FA5}">
                      <a16:colId xmlns:a16="http://schemas.microsoft.com/office/drawing/2014/main" val="3425746406"/>
                    </a:ext>
                  </a:extLst>
                </a:gridCol>
              </a:tblGrid>
              <a:tr h="493491">
                <a:tc>
                  <a:txBody>
                    <a:bodyPr/>
                    <a:lstStyle/>
                    <a:p>
                      <a:pPr marL="0" marR="0">
                        <a:buNone/>
                      </a:pPr>
                      <a:r>
                        <a:rPr lang="en-US" sz="2000" dirty="0">
                          <a:effectLst/>
                        </a:rPr>
                        <a:t>Name</a:t>
                      </a:r>
                      <a:endParaRPr lang="en-US" sz="2000" dirty="0">
                        <a:solidFill>
                          <a:srgbClr val="1A1A1A"/>
                        </a:solidFill>
                        <a:effectLst/>
                        <a:latin typeface="Proxima Nova"/>
                        <a:ea typeface="Proxima Nova"/>
                        <a:cs typeface="Proxima Nova"/>
                      </a:endParaRPr>
                    </a:p>
                  </a:txBody>
                  <a:tcPr marL="76200" marR="76200" marT="63500" marB="63500" anchor="ctr"/>
                </a:tc>
                <a:tc>
                  <a:txBody>
                    <a:bodyPr/>
                    <a:lstStyle/>
                    <a:p>
                      <a:pPr marL="0" marR="0">
                        <a:buNone/>
                      </a:pPr>
                      <a:r>
                        <a:rPr lang="en-US" sz="2000" dirty="0">
                          <a:effectLst/>
                        </a:rPr>
                        <a:t>Role</a:t>
                      </a:r>
                      <a:endParaRPr lang="en-US" sz="2000" dirty="0">
                        <a:solidFill>
                          <a:srgbClr val="1A1A1A"/>
                        </a:solidFill>
                        <a:effectLst/>
                        <a:latin typeface="Proxima Nova"/>
                        <a:ea typeface="Proxima Nova"/>
                        <a:cs typeface="Proxima Nova"/>
                      </a:endParaRPr>
                    </a:p>
                  </a:txBody>
                  <a:tcPr marL="76200" marR="76200" marT="63500" marB="63500" anchor="ctr"/>
                </a:tc>
                <a:tc>
                  <a:txBody>
                    <a:bodyPr/>
                    <a:lstStyle/>
                    <a:p>
                      <a:pPr marL="0" marR="0">
                        <a:buNone/>
                      </a:pPr>
                      <a:r>
                        <a:rPr lang="en-US" sz="2000" dirty="0">
                          <a:effectLst/>
                        </a:rPr>
                        <a:t>Email</a:t>
                      </a:r>
                      <a:endParaRPr lang="en-US" sz="2000" dirty="0">
                        <a:solidFill>
                          <a:srgbClr val="1A1A1A"/>
                        </a:solidFill>
                        <a:effectLst/>
                        <a:latin typeface="Proxima Nova"/>
                        <a:ea typeface="Proxima Nova"/>
                        <a:cs typeface="Proxima Nova"/>
                      </a:endParaRPr>
                    </a:p>
                  </a:txBody>
                  <a:tcPr marL="76200" marR="76200" marT="63500" marB="63500" anchor="ctr"/>
                </a:tc>
                <a:tc>
                  <a:txBody>
                    <a:bodyPr/>
                    <a:lstStyle/>
                    <a:p>
                      <a:pPr marL="0" marR="0">
                        <a:buNone/>
                      </a:pPr>
                      <a:r>
                        <a:rPr lang="en-US" sz="2000" dirty="0">
                          <a:solidFill>
                            <a:srgbClr val="1A1A1A"/>
                          </a:solidFill>
                          <a:effectLst/>
                          <a:latin typeface="+mn-lt"/>
                          <a:ea typeface="Proxima Nova"/>
                          <a:cs typeface="Proxima Nova"/>
                        </a:rPr>
                        <a:t>Presentation Topic </a:t>
                      </a:r>
                    </a:p>
                  </a:txBody>
                  <a:tcPr marL="76200" marR="76200" marT="63500" marB="63500" anchor="ctr"/>
                </a:tc>
                <a:extLst>
                  <a:ext uri="{0D108BD9-81ED-4DB2-BD59-A6C34878D82A}">
                    <a16:rowId xmlns:a16="http://schemas.microsoft.com/office/drawing/2014/main" val="1509206254"/>
                  </a:ext>
                </a:extLst>
              </a:tr>
              <a:tr h="336364">
                <a:tc>
                  <a:txBody>
                    <a:bodyPr/>
                    <a:lstStyle/>
                    <a:p>
                      <a:pPr marL="0" marR="0">
                        <a:buNone/>
                      </a:pPr>
                      <a:r>
                        <a:rPr lang="en-US" sz="1000" dirty="0">
                          <a:effectLst/>
                        </a:rPr>
                        <a:t>Sonali Mohammed</a:t>
                      </a:r>
                      <a:endParaRPr lang="en-US" sz="1100" dirty="0">
                        <a:solidFill>
                          <a:srgbClr val="1A1A1A"/>
                        </a:solidFill>
                        <a:effectLst/>
                        <a:latin typeface="Proxima Nova"/>
                        <a:ea typeface="Proxima Nova"/>
                        <a:cs typeface="Proxima Nova"/>
                      </a:endParaRPr>
                    </a:p>
                  </a:txBody>
                  <a:tcPr marL="76200" marR="76200" marT="63500" marB="63500" anchor="ctr"/>
                </a:tc>
                <a:tc>
                  <a:txBody>
                    <a:bodyPr/>
                    <a:lstStyle/>
                    <a:p>
                      <a:pPr marL="0" marR="0">
                        <a:buNone/>
                      </a:pPr>
                      <a:r>
                        <a:rPr lang="en-US" sz="1000">
                          <a:effectLst/>
                        </a:rPr>
                        <a:t>Team Lead </a:t>
                      </a:r>
                      <a:endParaRPr lang="en-US" sz="1100">
                        <a:solidFill>
                          <a:srgbClr val="1A1A1A"/>
                        </a:solidFill>
                        <a:effectLst/>
                        <a:latin typeface="Proxima Nova"/>
                        <a:ea typeface="Proxima Nova"/>
                        <a:cs typeface="Proxima Nova"/>
                      </a:endParaRPr>
                    </a:p>
                  </a:txBody>
                  <a:tcPr marL="76200" marR="76200" marT="63500" marB="63500" anchor="ctr"/>
                </a:tc>
                <a:tc>
                  <a:txBody>
                    <a:bodyPr/>
                    <a:lstStyle/>
                    <a:p>
                      <a:pPr marL="0" marR="0">
                        <a:buNone/>
                      </a:pPr>
                      <a:r>
                        <a:rPr lang="en-US" sz="1000">
                          <a:effectLst/>
                        </a:rPr>
                        <a:t>smoha094@fiu.edu</a:t>
                      </a:r>
                      <a:endParaRPr lang="en-US" sz="1100">
                        <a:solidFill>
                          <a:srgbClr val="1A1A1A"/>
                        </a:solidFill>
                        <a:effectLst/>
                        <a:latin typeface="Proxima Nova"/>
                        <a:ea typeface="Proxima Nova"/>
                        <a:cs typeface="Proxima Nova"/>
                      </a:endParaRPr>
                    </a:p>
                  </a:txBody>
                  <a:tcPr marL="76200" marR="76200" marT="63500" marB="63500" anchor="ctr"/>
                </a:tc>
                <a:tc>
                  <a:txBody>
                    <a:bodyPr/>
                    <a:lstStyle/>
                    <a:p>
                      <a:pPr marL="0" marR="0">
                        <a:buNone/>
                      </a:pPr>
                      <a:endParaRPr lang="en-US" sz="1100" dirty="0">
                        <a:solidFill>
                          <a:srgbClr val="1A1A1A"/>
                        </a:solidFill>
                        <a:effectLst/>
                        <a:latin typeface="Proxima Nova"/>
                        <a:ea typeface="Proxima Nova"/>
                        <a:cs typeface="Proxima Nova"/>
                      </a:endParaRPr>
                    </a:p>
                  </a:txBody>
                  <a:tcPr marL="76200" marR="76200" marT="63500" marB="63500" anchor="ctr"/>
                </a:tc>
                <a:extLst>
                  <a:ext uri="{0D108BD9-81ED-4DB2-BD59-A6C34878D82A}">
                    <a16:rowId xmlns:a16="http://schemas.microsoft.com/office/drawing/2014/main" val="3734306636"/>
                  </a:ext>
                </a:extLst>
              </a:tr>
              <a:tr h="492948">
                <a:tc>
                  <a:txBody>
                    <a:bodyPr/>
                    <a:lstStyle/>
                    <a:p>
                      <a:pPr marL="0" marR="0">
                        <a:buNone/>
                      </a:pPr>
                      <a:r>
                        <a:rPr lang="en-US" sz="1000">
                          <a:effectLst/>
                        </a:rPr>
                        <a:t>Justin Barroso</a:t>
                      </a:r>
                      <a:endParaRPr lang="en-US" sz="1100">
                        <a:solidFill>
                          <a:srgbClr val="1A1A1A"/>
                        </a:solidFill>
                        <a:effectLst/>
                        <a:latin typeface="Proxima Nova"/>
                        <a:ea typeface="Proxima Nova"/>
                        <a:cs typeface="Proxima Nova"/>
                      </a:endParaRPr>
                    </a:p>
                  </a:txBody>
                  <a:tcPr marL="76200" marR="76200" marT="63500" marB="63500" anchor="ctr"/>
                </a:tc>
                <a:tc>
                  <a:txBody>
                    <a:bodyPr/>
                    <a:lstStyle/>
                    <a:p>
                      <a:pPr marL="0" marR="0">
                        <a:buNone/>
                      </a:pPr>
                      <a:r>
                        <a:rPr lang="en-US" sz="1000">
                          <a:effectLst/>
                        </a:rPr>
                        <a:t>Identity &amp; Access Management </a:t>
                      </a:r>
                      <a:endParaRPr lang="en-US" sz="1100">
                        <a:solidFill>
                          <a:srgbClr val="1A1A1A"/>
                        </a:solidFill>
                        <a:effectLst/>
                        <a:latin typeface="Proxima Nova"/>
                        <a:ea typeface="Proxima Nova"/>
                        <a:cs typeface="Proxima Nova"/>
                      </a:endParaRPr>
                    </a:p>
                  </a:txBody>
                  <a:tcPr marL="76200" marR="76200" marT="63500" marB="63500" anchor="ctr"/>
                </a:tc>
                <a:tc>
                  <a:txBody>
                    <a:bodyPr/>
                    <a:lstStyle/>
                    <a:p>
                      <a:pPr marL="0" marR="0">
                        <a:buNone/>
                      </a:pPr>
                      <a:r>
                        <a:rPr lang="en-US" sz="1000">
                          <a:effectLst/>
                        </a:rPr>
                        <a:t>jbarr327@fiu.edu</a:t>
                      </a:r>
                      <a:endParaRPr lang="en-US" sz="1100">
                        <a:solidFill>
                          <a:srgbClr val="1A1A1A"/>
                        </a:solidFill>
                        <a:effectLst/>
                        <a:latin typeface="Proxima Nova"/>
                        <a:ea typeface="Proxima Nova"/>
                        <a:cs typeface="Proxima Nova"/>
                      </a:endParaRPr>
                    </a:p>
                  </a:txBody>
                  <a:tcPr marL="76200" marR="76200" marT="63500" marB="63500" anchor="ctr"/>
                </a:tc>
                <a:tc>
                  <a:txBody>
                    <a:bodyPr/>
                    <a:lstStyle/>
                    <a:p>
                      <a:pPr marL="0" marR="0">
                        <a:buNone/>
                      </a:pPr>
                      <a:endParaRPr lang="en-US" sz="1100" dirty="0">
                        <a:solidFill>
                          <a:srgbClr val="1A1A1A"/>
                        </a:solidFill>
                        <a:effectLst/>
                        <a:latin typeface="Proxima Nova"/>
                        <a:ea typeface="Proxima Nova"/>
                        <a:cs typeface="Proxima Nova"/>
                      </a:endParaRPr>
                    </a:p>
                  </a:txBody>
                  <a:tcPr marL="76200" marR="76200" marT="63500" marB="63500" anchor="ctr"/>
                </a:tc>
                <a:extLst>
                  <a:ext uri="{0D108BD9-81ED-4DB2-BD59-A6C34878D82A}">
                    <a16:rowId xmlns:a16="http://schemas.microsoft.com/office/drawing/2014/main" val="2381691143"/>
                  </a:ext>
                </a:extLst>
              </a:tr>
              <a:tr h="492948">
                <a:tc>
                  <a:txBody>
                    <a:bodyPr/>
                    <a:lstStyle/>
                    <a:p>
                      <a:pPr marL="0" marR="0">
                        <a:buNone/>
                      </a:pPr>
                      <a:r>
                        <a:rPr lang="en-US" sz="1000">
                          <a:effectLst/>
                        </a:rPr>
                        <a:t>Demetrius Smith</a:t>
                      </a:r>
                      <a:endParaRPr lang="en-US" sz="1100">
                        <a:solidFill>
                          <a:srgbClr val="1A1A1A"/>
                        </a:solidFill>
                        <a:effectLst/>
                        <a:latin typeface="Proxima Nova"/>
                        <a:ea typeface="Proxima Nova"/>
                        <a:cs typeface="Proxima Nova"/>
                      </a:endParaRPr>
                    </a:p>
                  </a:txBody>
                  <a:tcPr marL="76200" marR="76200" marT="63500" marB="63500" anchor="ctr"/>
                </a:tc>
                <a:tc>
                  <a:txBody>
                    <a:bodyPr/>
                    <a:lstStyle/>
                    <a:p>
                      <a:pPr marL="0" marR="0">
                        <a:buNone/>
                      </a:pPr>
                      <a:r>
                        <a:rPr lang="en-US" sz="1000">
                          <a:effectLst/>
                        </a:rPr>
                        <a:t>Infrastructure &amp; Testing </a:t>
                      </a:r>
                      <a:endParaRPr lang="en-US" sz="1100">
                        <a:solidFill>
                          <a:srgbClr val="1A1A1A"/>
                        </a:solidFill>
                        <a:effectLst/>
                        <a:latin typeface="Proxima Nova"/>
                        <a:ea typeface="Proxima Nova"/>
                        <a:cs typeface="Proxima Nova"/>
                      </a:endParaRPr>
                    </a:p>
                  </a:txBody>
                  <a:tcPr marL="76200" marR="76200" marT="63500" marB="63500" anchor="ctr"/>
                </a:tc>
                <a:tc>
                  <a:txBody>
                    <a:bodyPr/>
                    <a:lstStyle/>
                    <a:p>
                      <a:pPr marL="0" marR="0">
                        <a:buNone/>
                      </a:pPr>
                      <a:r>
                        <a:rPr lang="en-US" sz="1000">
                          <a:effectLst/>
                        </a:rPr>
                        <a:t>dsmit332@fiu.edu</a:t>
                      </a:r>
                      <a:endParaRPr lang="en-US" sz="1100">
                        <a:solidFill>
                          <a:srgbClr val="1A1A1A"/>
                        </a:solidFill>
                        <a:effectLst/>
                        <a:latin typeface="Proxima Nova"/>
                        <a:ea typeface="Proxima Nova"/>
                        <a:cs typeface="Proxima Nova"/>
                      </a:endParaRPr>
                    </a:p>
                  </a:txBody>
                  <a:tcPr marL="76200" marR="76200" marT="63500" marB="63500" anchor="ctr"/>
                </a:tc>
                <a:tc>
                  <a:txBody>
                    <a:bodyPr/>
                    <a:lstStyle/>
                    <a:p>
                      <a:pPr marL="0" marR="0">
                        <a:buNone/>
                      </a:pPr>
                      <a:endParaRPr lang="en-US" sz="1100" dirty="0">
                        <a:solidFill>
                          <a:srgbClr val="1A1A1A"/>
                        </a:solidFill>
                        <a:effectLst/>
                        <a:latin typeface="Proxima Nova"/>
                        <a:ea typeface="Proxima Nova"/>
                        <a:cs typeface="Proxima Nova"/>
                      </a:endParaRPr>
                    </a:p>
                  </a:txBody>
                  <a:tcPr marL="76200" marR="76200" marT="63500" marB="63500" anchor="ctr"/>
                </a:tc>
                <a:extLst>
                  <a:ext uri="{0D108BD9-81ED-4DB2-BD59-A6C34878D82A}">
                    <a16:rowId xmlns:a16="http://schemas.microsoft.com/office/drawing/2014/main" val="1220163928"/>
                  </a:ext>
                </a:extLst>
              </a:tr>
              <a:tr h="840911">
                <a:tc>
                  <a:txBody>
                    <a:bodyPr/>
                    <a:lstStyle/>
                    <a:p>
                      <a:pPr marL="0" marR="0">
                        <a:buNone/>
                      </a:pPr>
                      <a:r>
                        <a:rPr lang="en-US" sz="1000">
                          <a:effectLst/>
                        </a:rPr>
                        <a:t>Santiago Ferreira Rolon</a:t>
                      </a:r>
                      <a:endParaRPr lang="en-US" sz="1100">
                        <a:solidFill>
                          <a:srgbClr val="1A1A1A"/>
                        </a:solidFill>
                        <a:effectLst/>
                        <a:latin typeface="Proxima Nova"/>
                        <a:ea typeface="Proxima Nova"/>
                        <a:cs typeface="Proxima Nova"/>
                      </a:endParaRPr>
                    </a:p>
                  </a:txBody>
                  <a:tcPr marL="76200" marR="76200" marT="63500" marB="63500" anchor="ctr"/>
                </a:tc>
                <a:tc>
                  <a:txBody>
                    <a:bodyPr/>
                    <a:lstStyle/>
                    <a:p>
                      <a:pPr marL="0" marR="0">
                        <a:buNone/>
                      </a:pPr>
                      <a:r>
                        <a:rPr lang="en-US" sz="1000">
                          <a:effectLst/>
                        </a:rPr>
                        <a:t>Project Coordinator </a:t>
                      </a:r>
                      <a:endParaRPr lang="en-US" sz="1100">
                        <a:solidFill>
                          <a:srgbClr val="1A1A1A"/>
                        </a:solidFill>
                        <a:effectLst/>
                        <a:latin typeface="Proxima Nova"/>
                        <a:ea typeface="Proxima Nova"/>
                        <a:cs typeface="Proxima Nova"/>
                      </a:endParaRPr>
                    </a:p>
                  </a:txBody>
                  <a:tcPr marL="76200" marR="76200" marT="63500" marB="63500" anchor="ctr"/>
                </a:tc>
                <a:tc>
                  <a:txBody>
                    <a:bodyPr/>
                    <a:lstStyle/>
                    <a:p>
                      <a:pPr marL="0" marR="0">
                        <a:buNone/>
                      </a:pPr>
                      <a:r>
                        <a:rPr lang="en-US" sz="1000">
                          <a:effectLst/>
                        </a:rPr>
                        <a:t>Sferr109@fiu.edu</a:t>
                      </a:r>
                      <a:endParaRPr lang="en-US" sz="1100">
                        <a:solidFill>
                          <a:srgbClr val="1A1A1A"/>
                        </a:solidFill>
                        <a:effectLst/>
                        <a:latin typeface="Proxima Nova"/>
                        <a:ea typeface="Proxima Nova"/>
                        <a:cs typeface="Proxima Nova"/>
                      </a:endParaRPr>
                    </a:p>
                  </a:txBody>
                  <a:tcPr marL="76200" marR="76200" marT="63500" marB="63500" anchor="ctr"/>
                </a:tc>
                <a:tc>
                  <a:txBody>
                    <a:bodyPr/>
                    <a:lstStyle/>
                    <a:p>
                      <a:pPr marL="0" marR="0">
                        <a:buNone/>
                      </a:pPr>
                      <a:r>
                        <a:rPr lang="en-US" sz="1000" dirty="0">
                          <a:effectLst/>
                        </a:rPr>
                        <a:t> </a:t>
                      </a:r>
                      <a:endParaRPr lang="en-US" sz="1100" dirty="0">
                        <a:solidFill>
                          <a:srgbClr val="1A1A1A"/>
                        </a:solidFill>
                        <a:effectLst/>
                        <a:latin typeface="Proxima Nova"/>
                        <a:ea typeface="Proxima Nova"/>
                        <a:cs typeface="Proxima Nova"/>
                      </a:endParaRPr>
                    </a:p>
                  </a:txBody>
                  <a:tcPr marL="76200" marR="76200" marT="63500" marB="63500" anchor="ctr"/>
                </a:tc>
                <a:extLst>
                  <a:ext uri="{0D108BD9-81ED-4DB2-BD59-A6C34878D82A}">
                    <a16:rowId xmlns:a16="http://schemas.microsoft.com/office/drawing/2014/main" val="2550825014"/>
                  </a:ext>
                </a:extLst>
              </a:tr>
              <a:tr h="666929">
                <a:tc>
                  <a:txBody>
                    <a:bodyPr/>
                    <a:lstStyle/>
                    <a:p>
                      <a:pPr marL="0" marR="0">
                        <a:buNone/>
                      </a:pPr>
                      <a:r>
                        <a:rPr lang="en-US" sz="1000">
                          <a:effectLst/>
                        </a:rPr>
                        <a:t>David Alonso</a:t>
                      </a:r>
                      <a:endParaRPr lang="en-US" sz="1100">
                        <a:solidFill>
                          <a:srgbClr val="1A1A1A"/>
                        </a:solidFill>
                        <a:effectLst/>
                        <a:latin typeface="Proxima Nova"/>
                        <a:ea typeface="Proxima Nova"/>
                        <a:cs typeface="Proxima Nova"/>
                      </a:endParaRPr>
                    </a:p>
                  </a:txBody>
                  <a:tcPr marL="76200" marR="76200" marT="63500" marB="63500" anchor="ctr"/>
                </a:tc>
                <a:tc>
                  <a:txBody>
                    <a:bodyPr/>
                    <a:lstStyle/>
                    <a:p>
                      <a:pPr marL="0" marR="0">
                        <a:buNone/>
                      </a:pPr>
                      <a:r>
                        <a:rPr lang="en-US" sz="1000">
                          <a:effectLst/>
                        </a:rPr>
                        <a:t>Quality Assurance &amp; Security Testing </a:t>
                      </a:r>
                      <a:endParaRPr lang="en-US" sz="1100">
                        <a:solidFill>
                          <a:srgbClr val="1A1A1A"/>
                        </a:solidFill>
                        <a:effectLst/>
                        <a:latin typeface="Proxima Nova"/>
                        <a:ea typeface="Proxima Nova"/>
                        <a:cs typeface="Proxima Nova"/>
                      </a:endParaRPr>
                    </a:p>
                  </a:txBody>
                  <a:tcPr marL="76200" marR="76200" marT="63500" marB="63500" anchor="ctr"/>
                </a:tc>
                <a:tc>
                  <a:txBody>
                    <a:bodyPr/>
                    <a:lstStyle/>
                    <a:p>
                      <a:pPr marL="0" marR="0">
                        <a:buNone/>
                      </a:pPr>
                      <a:r>
                        <a:rPr lang="en-US" sz="1000">
                          <a:effectLst/>
                        </a:rPr>
                        <a:t>dalon065@fiu.edu</a:t>
                      </a:r>
                      <a:endParaRPr lang="en-US" sz="1100">
                        <a:solidFill>
                          <a:srgbClr val="1A1A1A"/>
                        </a:solidFill>
                        <a:effectLst/>
                        <a:latin typeface="Proxima Nova"/>
                        <a:ea typeface="Proxima Nova"/>
                        <a:cs typeface="Proxima Nova"/>
                      </a:endParaRPr>
                    </a:p>
                  </a:txBody>
                  <a:tcPr marL="76200" marR="76200" marT="63500" marB="63500" anchor="ctr"/>
                </a:tc>
                <a:tc>
                  <a:txBody>
                    <a:bodyPr/>
                    <a:lstStyle/>
                    <a:p>
                      <a:pPr marL="0" marR="0">
                        <a:buNone/>
                      </a:pPr>
                      <a:endParaRPr lang="en-US" sz="1100" dirty="0">
                        <a:solidFill>
                          <a:srgbClr val="1A1A1A"/>
                        </a:solidFill>
                        <a:effectLst/>
                        <a:latin typeface="Proxima Nova"/>
                        <a:ea typeface="Proxima Nova"/>
                        <a:cs typeface="Proxima Nova"/>
                      </a:endParaRPr>
                    </a:p>
                  </a:txBody>
                  <a:tcPr marL="76200" marR="76200" marT="63500" marB="63500" anchor="ctr"/>
                </a:tc>
                <a:extLst>
                  <a:ext uri="{0D108BD9-81ED-4DB2-BD59-A6C34878D82A}">
                    <a16:rowId xmlns:a16="http://schemas.microsoft.com/office/drawing/2014/main" val="1807372124"/>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2920" y="320040"/>
            <a:ext cx="11155680" cy="731520"/>
          </a:xfrm>
          <a:prstGeom prst="rect">
            <a:avLst/>
          </a:prstGeom>
          <a:noFill/>
          <a:ln/>
        </p:spPr>
        <p:txBody>
          <a:bodyPr wrap="square" lIns="0" tIns="0" rIns="0" bIns="0" rtlCol="0" anchor="ctr">
            <a:normAutofit/>
          </a:bodyPr>
          <a:lstStyle/>
          <a:p>
            <a:pPr marL="0" indent="0">
              <a:buNone/>
            </a:pPr>
            <a:r>
              <a:rPr lang="en-US" sz="3200" b="1" dirty="0">
                <a:solidFill>
                  <a:srgbClr val="081E3F"/>
                </a:solidFill>
                <a:latin typeface="Arial" pitchFamily="34" charset="0"/>
                <a:ea typeface="Arial" pitchFamily="34" charset="-122"/>
                <a:cs typeface="Arial" pitchFamily="34" charset="-120"/>
              </a:rPr>
              <a:t>The Problem</a:t>
            </a:r>
            <a:endParaRPr lang="en-US" sz="3200" dirty="0"/>
          </a:p>
        </p:txBody>
      </p:sp>
      <p:sp>
        <p:nvSpPr>
          <p:cNvPr id="4" name="Text 2"/>
          <p:cNvSpPr/>
          <p:nvPr/>
        </p:nvSpPr>
        <p:spPr>
          <a:xfrm>
            <a:off x="502920" y="1645920"/>
            <a:ext cx="6949440" cy="4389120"/>
          </a:xfrm>
          <a:prstGeom prst="rect">
            <a:avLst/>
          </a:prstGeom>
          <a:noFill/>
          <a:ln/>
        </p:spPr>
        <p:txBody>
          <a:bodyPr wrap="square" lIns="0" tIns="0" rIns="0" bIns="0" rtlCol="0" anchor="t">
            <a:normAutofit/>
          </a:bodyPr>
          <a:lstStyle/>
          <a:p>
            <a:pPr marL="0" indent="0">
              <a:buNone/>
            </a:pPr>
            <a:endParaRPr lang="en-US" sz="1500" i="1" dirty="0">
              <a:solidFill>
                <a:srgbClr val="5B667E"/>
              </a:solidFill>
              <a:latin typeface="Arial" pitchFamily="34" charset="0"/>
              <a:ea typeface="Arial" pitchFamily="34" charset="-122"/>
              <a:cs typeface="Arial" pitchFamily="34" charset="-120"/>
            </a:endParaRPr>
          </a:p>
          <a:p>
            <a:pPr marL="285750" indent="-285750">
              <a:buFont typeface="Arial" panose="020B0604020202020204" pitchFamily="34" charset="0"/>
              <a:buChar char="•"/>
            </a:pPr>
            <a:r>
              <a:rPr lang="en-US" sz="1600" dirty="0">
                <a:latin typeface="Arial" pitchFamily="34" charset="0"/>
                <a:ea typeface="Arial" pitchFamily="34" charset="-122"/>
                <a:cs typeface="Arial" pitchFamily="34" charset="-120"/>
              </a:rPr>
              <a:t>Clinic staff need quick, reliable access to patient information to provide quality care, but outdated systems make that difficult.</a:t>
            </a:r>
          </a:p>
          <a:p>
            <a:pPr marL="285750" indent="-285750">
              <a:buFont typeface="Arial" panose="020B0604020202020204" pitchFamily="34" charset="0"/>
              <a:buChar char="•"/>
            </a:pPr>
            <a:r>
              <a:rPr lang="en-US" sz="1600" dirty="0">
                <a:latin typeface="Arial" pitchFamily="34" charset="0"/>
                <a:ea typeface="Arial" pitchFamily="34" charset="-122"/>
                <a:cs typeface="Arial" pitchFamily="34" charset="-120"/>
              </a:rPr>
              <a:t>Without strong security, sensitive patient and financial information can be exposed to cyberattacks or unauthorized access.</a:t>
            </a:r>
          </a:p>
          <a:p>
            <a:pPr marL="285750" indent="-285750">
              <a:buFont typeface="Arial" panose="020B0604020202020204" pitchFamily="34" charset="0"/>
              <a:buChar char="•"/>
            </a:pPr>
            <a:r>
              <a:rPr lang="en-US" sz="1600" dirty="0">
                <a:latin typeface="Arial" pitchFamily="34" charset="0"/>
                <a:ea typeface="Arial" pitchFamily="34" charset="-122"/>
                <a:cs typeface="Arial" pitchFamily="34" charset="-120"/>
              </a:rPr>
              <a:t>Managing employee accounts and permissions manually is time-consuming and increases the risk of mistakes.</a:t>
            </a:r>
          </a:p>
          <a:p>
            <a:pPr marL="285750" indent="-285750">
              <a:buFont typeface="Arial" panose="020B0604020202020204" pitchFamily="34" charset="0"/>
              <a:buChar char="•"/>
            </a:pPr>
            <a:r>
              <a:rPr lang="en-US" sz="1600" dirty="0">
                <a:latin typeface="Arial" pitchFamily="34" charset="0"/>
                <a:ea typeface="Arial" pitchFamily="34" charset="-122"/>
                <a:cs typeface="Arial" pitchFamily="34" charset="-120"/>
              </a:rPr>
              <a:t>If nothing changes, the clinic faces higher security risks, possible compliance issues, costly downtime, and loss of patient trust.</a:t>
            </a:r>
          </a:p>
          <a:p>
            <a:pPr marL="285750" indent="-285750">
              <a:buFont typeface="Arial" panose="020B0604020202020204" pitchFamily="34" charset="0"/>
              <a:buChar char="•"/>
            </a:pPr>
            <a:endParaRPr lang="en-US" sz="1500" i="1" dirty="0">
              <a:solidFill>
                <a:srgbClr val="5B667E"/>
              </a:solidFill>
              <a:latin typeface="Arial" pitchFamily="34" charset="0"/>
              <a:cs typeface="Arial" pitchFamily="34" charset="-120"/>
            </a:endParaRPr>
          </a:p>
          <a:p>
            <a:pPr marL="0" indent="0">
              <a:buNone/>
            </a:pPr>
            <a:endParaRPr lang="en-US" sz="1500" dirty="0"/>
          </a:p>
        </p:txBody>
      </p:sp>
      <p:sp>
        <p:nvSpPr>
          <p:cNvPr id="5" name="Shape 3"/>
          <p:cNvSpPr/>
          <p:nvPr/>
        </p:nvSpPr>
        <p:spPr>
          <a:xfrm>
            <a:off x="7772400" y="1645920"/>
            <a:ext cx="3931920" cy="4389120"/>
          </a:xfrm>
          <a:prstGeom prst="roundRect">
            <a:avLst>
              <a:gd name="adj" fmla="val 1860"/>
            </a:avLst>
          </a:prstGeom>
          <a:solidFill>
            <a:srgbClr val="F2F4F8"/>
          </a:solidFill>
          <a:ln/>
        </p:spPr>
        <p:txBody>
          <a:bodyPr/>
          <a:lstStyle/>
          <a:p>
            <a:endParaRPr lang="en-US"/>
          </a:p>
        </p:txBody>
      </p:sp>
      <p:sp>
        <p:nvSpPr>
          <p:cNvPr id="6" name="Text 4"/>
          <p:cNvSpPr/>
          <p:nvPr/>
        </p:nvSpPr>
        <p:spPr>
          <a:xfrm>
            <a:off x="7772400" y="1645920"/>
            <a:ext cx="3931920" cy="4389120"/>
          </a:xfrm>
          <a:prstGeom prst="rect">
            <a:avLst/>
          </a:prstGeom>
          <a:noFill/>
          <a:ln/>
        </p:spPr>
        <p:txBody>
          <a:bodyPr wrap="square" rtlCol="0" anchor="ctr">
            <a:normAutofit/>
          </a:bodyPr>
          <a:lstStyle/>
          <a:p>
            <a:pPr marL="0" indent="0" algn="ctr">
              <a:buNone/>
            </a:pPr>
            <a:r>
              <a:rPr lang="en-US" sz="1200" i="1" dirty="0">
                <a:solidFill>
                  <a:srgbClr val="5B667E"/>
                </a:solidFill>
                <a:latin typeface="Arial" pitchFamily="34" charset="0"/>
                <a:ea typeface="Arial" pitchFamily="34" charset="-122"/>
                <a:cs typeface="Arial" pitchFamily="34" charset="-120"/>
              </a:rPr>
              <a:t>Optional: a photo, quote, or one number that makes the problem real</a:t>
            </a:r>
            <a:endParaRPr lang="en-US" sz="1200" dirty="0"/>
          </a:p>
        </p:txBody>
      </p:sp>
      <p:pic>
        <p:nvPicPr>
          <p:cNvPr id="8" name="Picture 7">
            <a:extLst>
              <a:ext uri="{FF2B5EF4-FFF2-40B4-BE49-F238E27FC236}">
                <a16:creationId xmlns:a16="http://schemas.microsoft.com/office/drawing/2014/main" id="{AB3467EB-2276-6DDF-26F8-2D8443A5B3BB}"/>
              </a:ext>
            </a:extLst>
          </p:cNvPr>
          <p:cNvPicPr>
            <a:picLocks noChangeAspect="1"/>
          </p:cNvPicPr>
          <p:nvPr/>
        </p:nvPicPr>
        <p:blipFill>
          <a:blip r:embed="rId3"/>
          <a:srcRect r="37316" b="15412"/>
          <a:stretch>
            <a:fillRect/>
          </a:stretch>
        </p:blipFill>
        <p:spPr>
          <a:xfrm>
            <a:off x="7772400" y="1645920"/>
            <a:ext cx="3886200" cy="438912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02920" y="320040"/>
            <a:ext cx="11155680" cy="731520"/>
          </a:xfrm>
          <a:prstGeom prst="rect">
            <a:avLst/>
          </a:prstGeom>
          <a:noFill/>
          <a:ln/>
        </p:spPr>
        <p:txBody>
          <a:bodyPr wrap="square" lIns="0" tIns="0" rIns="0" bIns="0" rtlCol="0" anchor="ctr">
            <a:normAutofit/>
          </a:bodyPr>
          <a:lstStyle/>
          <a:p>
            <a:pPr marL="0" indent="0">
              <a:buNone/>
            </a:pPr>
            <a:r>
              <a:rPr lang="en-US" sz="3200" b="1" dirty="0">
                <a:solidFill>
                  <a:srgbClr val="081E3F"/>
                </a:solidFill>
                <a:latin typeface="Arial" pitchFamily="34" charset="0"/>
                <a:ea typeface="Arial" pitchFamily="34" charset="-122"/>
                <a:cs typeface="Arial" pitchFamily="34" charset="-120"/>
              </a:rPr>
              <a:t>Stakeholders &amp; Requirements</a:t>
            </a:r>
            <a:endParaRPr lang="en-US" sz="3200" dirty="0"/>
          </a:p>
        </p:txBody>
      </p:sp>
      <p:sp>
        <p:nvSpPr>
          <p:cNvPr id="4" name="Text 2"/>
          <p:cNvSpPr/>
          <p:nvPr/>
        </p:nvSpPr>
        <p:spPr>
          <a:xfrm>
            <a:off x="487679" y="1234440"/>
            <a:ext cx="11281534" cy="4763237"/>
          </a:xfrm>
          <a:prstGeom prst="rect">
            <a:avLst/>
          </a:prstGeom>
          <a:noFill/>
          <a:ln/>
        </p:spPr>
        <p:txBody>
          <a:bodyPr wrap="square" lIns="0" tIns="0" rIns="0" bIns="0" rtlCol="0" anchor="t">
            <a:normAutofit/>
          </a:bodyPr>
          <a:lstStyle/>
          <a:p>
            <a:pPr marL="0" indent="0">
              <a:buNone/>
            </a:pPr>
            <a:r>
              <a:rPr lang="en-US" sz="1500" i="1" dirty="0">
                <a:solidFill>
                  <a:srgbClr val="5B667E"/>
                </a:solidFill>
                <a:latin typeface="Arial" pitchFamily="34" charset="0"/>
                <a:ea typeface="Arial" pitchFamily="34" charset="-122"/>
                <a:cs typeface="Arial" pitchFamily="34" charset="-120"/>
              </a:rPr>
              <a:t>Point to the full list in your documentation.</a:t>
            </a:r>
          </a:p>
          <a:p>
            <a:pPr marL="0" indent="0">
              <a:buNone/>
            </a:pPr>
            <a:r>
              <a:rPr lang="en-US" sz="1600" dirty="0">
                <a:latin typeface="Arial" pitchFamily="34" charset="0"/>
                <a:ea typeface="Arial" pitchFamily="34" charset="-122"/>
                <a:cs typeface="Arial" pitchFamily="34" charset="-120"/>
              </a:rPr>
              <a:t>Stakeholders: </a:t>
            </a:r>
          </a:p>
          <a:p>
            <a:pPr marL="285750" indent="-285750">
              <a:buFont typeface="Arial" panose="020B0604020202020204" pitchFamily="34" charset="0"/>
              <a:buChar char="•"/>
            </a:pPr>
            <a:r>
              <a:rPr lang="en-US" sz="1600" dirty="0">
                <a:latin typeface="Arial" pitchFamily="34" charset="0"/>
                <a:cs typeface="Arial" pitchFamily="34" charset="-120"/>
              </a:rPr>
              <a:t>Clinic administrators</a:t>
            </a:r>
          </a:p>
          <a:p>
            <a:pPr marL="285750" indent="-285750">
              <a:buFont typeface="Arial" panose="020B0604020202020204" pitchFamily="34" charset="0"/>
              <a:buChar char="•"/>
            </a:pPr>
            <a:r>
              <a:rPr lang="en-US" sz="1600" dirty="0">
                <a:latin typeface="Arial" pitchFamily="34" charset="0"/>
                <a:cs typeface="Arial" pitchFamily="34" charset="-120"/>
              </a:rPr>
              <a:t>Healthcare staff</a:t>
            </a:r>
          </a:p>
          <a:p>
            <a:pPr marL="285750" indent="-285750">
              <a:buFont typeface="Arial" panose="020B0604020202020204" pitchFamily="34" charset="0"/>
              <a:buChar char="•"/>
            </a:pPr>
            <a:r>
              <a:rPr lang="en-US" sz="1600" dirty="0">
                <a:latin typeface="Arial" pitchFamily="34" charset="0"/>
                <a:cs typeface="Arial" pitchFamily="34" charset="-120"/>
              </a:rPr>
              <a:t>IT administrators</a:t>
            </a:r>
          </a:p>
          <a:p>
            <a:pPr marL="285750" indent="-285750">
              <a:buFont typeface="Arial" panose="020B0604020202020204" pitchFamily="34" charset="0"/>
              <a:buChar char="•"/>
            </a:pPr>
            <a:r>
              <a:rPr lang="en-US" sz="1600" dirty="0">
                <a:latin typeface="Arial" pitchFamily="34" charset="0"/>
                <a:cs typeface="Arial" pitchFamily="34" charset="-120"/>
              </a:rPr>
              <a:t>Patients</a:t>
            </a:r>
          </a:p>
          <a:p>
            <a:pPr marL="285750" indent="-285750">
              <a:buFont typeface="Arial" panose="020B0604020202020204" pitchFamily="34" charset="0"/>
              <a:buChar char="•"/>
            </a:pPr>
            <a:r>
              <a:rPr lang="en-US" sz="1600" dirty="0">
                <a:latin typeface="Arial" pitchFamily="34" charset="0"/>
                <a:cs typeface="Arial" pitchFamily="34" charset="-120"/>
              </a:rPr>
              <a:t>RBAC, MFA, VPN, Active Directory, logging, backups, firewall protection</a:t>
            </a:r>
          </a:p>
          <a:p>
            <a:pPr marL="285750" indent="-285750">
              <a:buFont typeface="Arial" panose="020B0604020202020204" pitchFamily="34" charset="0"/>
              <a:buChar char="•"/>
            </a:pPr>
            <a:endParaRPr lang="en-US" sz="1600" dirty="0">
              <a:latin typeface="Arial" pitchFamily="34" charset="0"/>
              <a:cs typeface="Arial" pitchFamily="34" charset="-120"/>
            </a:endParaRPr>
          </a:p>
          <a:p>
            <a:r>
              <a:rPr lang="en-US" sz="1600" dirty="0">
                <a:latin typeface="Arial" pitchFamily="34" charset="0"/>
                <a:cs typeface="Arial" pitchFamily="34" charset="-120"/>
              </a:rPr>
              <a:t>Key Functional: </a:t>
            </a:r>
          </a:p>
          <a:p>
            <a:pPr marL="285750" indent="-285750">
              <a:buFont typeface="Arial" panose="020B0604020202020204" pitchFamily="34" charset="0"/>
              <a:buChar char="•"/>
            </a:pPr>
            <a:r>
              <a:rPr lang="en-US" sz="1600" dirty="0">
                <a:latin typeface="Arial" pitchFamily="34" charset="0"/>
                <a:cs typeface="Arial" pitchFamily="34" charset="-120"/>
              </a:rPr>
              <a:t> Centralized user authentication with Active Directory</a:t>
            </a:r>
          </a:p>
          <a:p>
            <a:pPr marL="285750" indent="-285750">
              <a:buFont typeface="Arial" panose="020B0604020202020204" pitchFamily="34" charset="0"/>
              <a:buChar char="•"/>
            </a:pPr>
            <a:r>
              <a:rPr lang="en-US" sz="1600" dirty="0">
                <a:latin typeface="Arial" pitchFamily="34" charset="0"/>
                <a:cs typeface="Arial" pitchFamily="34" charset="-120"/>
              </a:rPr>
              <a:t>Role-Based Access Control for department-specific permission</a:t>
            </a:r>
          </a:p>
          <a:p>
            <a:pPr marL="285750" indent="-285750">
              <a:buFont typeface="Arial" panose="020B0604020202020204" pitchFamily="34" charset="0"/>
              <a:buChar char="•"/>
            </a:pPr>
            <a:r>
              <a:rPr lang="en-US" sz="1600" dirty="0">
                <a:latin typeface="Arial" pitchFamily="34" charset="0"/>
                <a:cs typeface="Arial" pitchFamily="34" charset="-120"/>
              </a:rPr>
              <a:t>Secure remote access through VPN with Multi-Factor Authentication</a:t>
            </a:r>
          </a:p>
          <a:p>
            <a:endParaRPr lang="en-US" sz="1600" dirty="0">
              <a:latin typeface="Arial" pitchFamily="34" charset="0"/>
              <a:cs typeface="Arial" pitchFamily="34" charset="-120"/>
            </a:endParaRPr>
          </a:p>
          <a:p>
            <a:r>
              <a:rPr lang="en-US" sz="1600" dirty="0">
                <a:latin typeface="Arial" pitchFamily="34" charset="0"/>
                <a:cs typeface="Arial" pitchFamily="34" charset="-120"/>
              </a:rPr>
              <a:t>Key Non-Functional:</a:t>
            </a:r>
          </a:p>
          <a:p>
            <a:pPr marL="285750" indent="-285750">
              <a:buFont typeface="Arial" panose="020B0604020202020204" pitchFamily="34" charset="0"/>
              <a:buChar char="•"/>
            </a:pPr>
            <a:r>
              <a:rPr lang="en-US" sz="1600" dirty="0">
                <a:latin typeface="Arial" pitchFamily="34" charset="0"/>
                <a:cs typeface="Arial" pitchFamily="34" charset="-120"/>
              </a:rPr>
              <a:t>High reliability</a:t>
            </a:r>
          </a:p>
          <a:p>
            <a:pPr marL="285750" indent="-285750">
              <a:buFont typeface="Arial" panose="020B0604020202020204" pitchFamily="34" charset="0"/>
              <a:buChar char="•"/>
            </a:pPr>
            <a:r>
              <a:rPr lang="en-US" sz="1600" dirty="0">
                <a:latin typeface="Arial" pitchFamily="34" charset="0"/>
                <a:cs typeface="Arial" pitchFamily="34" charset="-120"/>
              </a:rPr>
              <a:t>Strong security and data protection</a:t>
            </a:r>
          </a:p>
          <a:p>
            <a:pPr marL="285750" indent="-285750">
              <a:buFont typeface="Arial" panose="020B0604020202020204" pitchFamily="34" charset="0"/>
              <a:buChar char="•"/>
            </a:pPr>
            <a:r>
              <a:rPr lang="en-US" sz="1600" dirty="0">
                <a:latin typeface="Arial" pitchFamily="34" charset="0"/>
                <a:cs typeface="Arial" pitchFamily="34" charset="-120"/>
              </a:rPr>
              <a:t>Scalable cloud infrastructure </a:t>
            </a:r>
          </a:p>
          <a:p>
            <a:pPr marL="0" indent="0">
              <a:buNone/>
            </a:pP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02920" y="320040"/>
            <a:ext cx="11155680" cy="731520"/>
          </a:xfrm>
          <a:prstGeom prst="rect">
            <a:avLst/>
          </a:prstGeom>
          <a:noFill/>
          <a:ln/>
        </p:spPr>
        <p:txBody>
          <a:bodyPr wrap="square" lIns="0" tIns="0" rIns="0" bIns="0" rtlCol="0" anchor="ctr">
            <a:normAutofit/>
          </a:bodyPr>
          <a:lstStyle/>
          <a:p>
            <a:pPr marL="0" indent="0">
              <a:buNone/>
            </a:pPr>
            <a:r>
              <a:rPr lang="en-US" sz="3200" b="1" dirty="0">
                <a:solidFill>
                  <a:srgbClr val="081E3F"/>
                </a:solidFill>
                <a:latin typeface="Arial" pitchFamily="34" charset="0"/>
                <a:ea typeface="Arial" pitchFamily="34" charset="-122"/>
                <a:cs typeface="Arial" pitchFamily="34" charset="-120"/>
              </a:rPr>
              <a:t>Our Solution</a:t>
            </a:r>
            <a:endParaRPr lang="en-US" sz="3200" dirty="0"/>
          </a:p>
        </p:txBody>
      </p:sp>
      <p:sp>
        <p:nvSpPr>
          <p:cNvPr id="4" name="Text 2"/>
          <p:cNvSpPr/>
          <p:nvPr/>
        </p:nvSpPr>
        <p:spPr>
          <a:xfrm>
            <a:off x="502920" y="2310581"/>
            <a:ext cx="6793599" cy="3154188"/>
          </a:xfrm>
          <a:prstGeom prst="rect">
            <a:avLst/>
          </a:prstGeom>
          <a:noFill/>
          <a:ln/>
        </p:spPr>
        <p:txBody>
          <a:bodyPr wrap="square" lIns="0" tIns="0" rIns="0" bIns="0" rtlCol="0" anchor="t">
            <a:normAutofit/>
          </a:bodyPr>
          <a:lstStyle/>
          <a:p>
            <a:pPr marL="0" indent="0">
              <a:buNone/>
            </a:pPr>
            <a:r>
              <a:rPr lang="en-US" sz="1500" i="1" dirty="0">
                <a:solidFill>
                  <a:srgbClr val="5B667E"/>
                </a:solidFill>
                <a:latin typeface="Arial" pitchFamily="34" charset="0"/>
                <a:ea typeface="Arial" pitchFamily="34" charset="-122"/>
                <a:cs typeface="Arial" pitchFamily="34" charset="-120"/>
              </a:rPr>
              <a:t>Plain-language description of the solution, plus the 2–3 design decisions you'd defend in Q&amp;A (and their trade-offs — judges will ask).</a:t>
            </a:r>
          </a:p>
          <a:p>
            <a:pPr marL="0" indent="0">
              <a:buNone/>
            </a:pPr>
            <a:endParaRPr lang="en-US" sz="1500" i="1" dirty="0">
              <a:solidFill>
                <a:srgbClr val="5B667E"/>
              </a:solidFill>
              <a:latin typeface="Arial" pitchFamily="34" charset="0"/>
              <a:cs typeface="Arial" pitchFamily="34" charset="-120"/>
            </a:endParaRPr>
          </a:p>
          <a:p>
            <a:pPr marL="0" indent="0">
              <a:buNone/>
            </a:pPr>
            <a:r>
              <a:rPr lang="en-US" sz="1600" i="1" dirty="0">
                <a:latin typeface="Arial" pitchFamily="34" charset="0"/>
                <a:cs typeface="Arial" pitchFamily="34" charset="-120"/>
              </a:rPr>
              <a:t>Key Designs:</a:t>
            </a:r>
          </a:p>
          <a:p>
            <a:pPr marL="0" indent="0">
              <a:buNone/>
            </a:pPr>
            <a:r>
              <a:rPr lang="en-US" sz="1600" i="1" dirty="0">
                <a:latin typeface="Arial" pitchFamily="34" charset="0"/>
                <a:cs typeface="Arial" pitchFamily="34" charset="-120"/>
              </a:rPr>
              <a:t> 1. Centralized Identity Management (Active Directory + Microsoft Entra ID)</a:t>
            </a:r>
          </a:p>
          <a:p>
            <a:pPr marL="0" indent="0">
              <a:buNone/>
            </a:pPr>
            <a:r>
              <a:rPr lang="en-US" sz="1600" i="1" dirty="0">
                <a:latin typeface="Arial" pitchFamily="34" charset="0"/>
                <a:cs typeface="Arial" pitchFamily="34" charset="-120"/>
              </a:rPr>
              <a:t>  2. Role-Based Access Control</a:t>
            </a:r>
          </a:p>
          <a:p>
            <a:pPr marL="0" indent="0">
              <a:buNone/>
            </a:pPr>
            <a:r>
              <a:rPr lang="en-US" sz="1600" i="1" dirty="0">
                <a:latin typeface="Arial" pitchFamily="34" charset="0"/>
                <a:cs typeface="Arial" pitchFamily="34" charset="-120"/>
              </a:rPr>
              <a:t>   3. Secure Remote Access (VPN + Multi-Factor Authentication)</a:t>
            </a:r>
          </a:p>
        </p:txBody>
      </p:sp>
      <p:sp>
        <p:nvSpPr>
          <p:cNvPr id="5" name="Shape 3"/>
          <p:cNvSpPr/>
          <p:nvPr/>
        </p:nvSpPr>
        <p:spPr>
          <a:xfrm>
            <a:off x="7772400" y="1645920"/>
            <a:ext cx="3931920" cy="4389120"/>
          </a:xfrm>
          <a:prstGeom prst="roundRect">
            <a:avLst>
              <a:gd name="adj" fmla="val 1860"/>
            </a:avLst>
          </a:prstGeom>
          <a:solidFill>
            <a:srgbClr val="F2F4F8"/>
          </a:solidFill>
          <a:ln/>
        </p:spPr>
        <p:txBody>
          <a:bodyPr/>
          <a:lstStyle/>
          <a:p>
            <a:endParaRPr lang="en-US"/>
          </a:p>
        </p:txBody>
      </p:sp>
      <p:sp>
        <p:nvSpPr>
          <p:cNvPr id="6" name="Text 4"/>
          <p:cNvSpPr/>
          <p:nvPr/>
        </p:nvSpPr>
        <p:spPr>
          <a:xfrm>
            <a:off x="7772400" y="1645920"/>
            <a:ext cx="3931920" cy="4389120"/>
          </a:xfrm>
          <a:prstGeom prst="rect">
            <a:avLst/>
          </a:prstGeom>
          <a:noFill/>
          <a:ln/>
        </p:spPr>
        <p:txBody>
          <a:bodyPr wrap="square" rtlCol="0" anchor="ctr">
            <a:normAutofit/>
          </a:bodyPr>
          <a:lstStyle/>
          <a:p>
            <a:pPr marL="0" indent="0" algn="ctr">
              <a:buNone/>
            </a:pPr>
            <a:r>
              <a:rPr lang="en-US" sz="1200" i="1" dirty="0">
                <a:solidFill>
                  <a:srgbClr val="5B667E"/>
                </a:solidFill>
                <a:latin typeface="Arial" pitchFamily="34" charset="0"/>
                <a:ea typeface="Arial" pitchFamily="34" charset="-122"/>
                <a:cs typeface="Arial" pitchFamily="34" charset="-120"/>
              </a:rPr>
              <a:t>Solution overview graphic</a:t>
            </a:r>
            <a:endParaRPr lang="en-US" sz="1200" dirty="0"/>
          </a:p>
        </p:txBody>
      </p:sp>
      <p:sp>
        <p:nvSpPr>
          <p:cNvPr id="8" name="TextBox 7">
            <a:extLst>
              <a:ext uri="{FF2B5EF4-FFF2-40B4-BE49-F238E27FC236}">
                <a16:creationId xmlns:a16="http://schemas.microsoft.com/office/drawing/2014/main" id="{3295444D-FD76-C14F-1DBB-B9A66016FEF0}"/>
              </a:ext>
            </a:extLst>
          </p:cNvPr>
          <p:cNvSpPr txBox="1"/>
          <p:nvPr/>
        </p:nvSpPr>
        <p:spPr>
          <a:xfrm>
            <a:off x="423299" y="988749"/>
            <a:ext cx="7466570" cy="1077218"/>
          </a:xfrm>
          <a:prstGeom prst="rect">
            <a:avLst/>
          </a:prstGeom>
          <a:noFill/>
        </p:spPr>
        <p:txBody>
          <a:bodyPr wrap="square">
            <a:spAutoFit/>
          </a:bodyPr>
          <a:lstStyle/>
          <a:p>
            <a:r>
              <a:rPr lang="en-US" sz="1600" dirty="0">
                <a:latin typeface="Arial" panose="020B0604020202020204" pitchFamily="34" charset="0"/>
                <a:cs typeface="Arial" panose="020B0604020202020204" pitchFamily="34" charset="0"/>
              </a:rPr>
              <a:t>We built a secure, cloud-based IT infrastructure for a small healthcare clinic using Microsoft Azure. The solution centralizes user management, protects sensitive patient data, enables secure remote access, and provides continuous monitoring to help the clinic operate safely and efficiently.</a:t>
            </a:r>
          </a:p>
        </p:txBody>
      </p:sp>
      <p:pic>
        <p:nvPicPr>
          <p:cNvPr id="7" name="Picture 6">
            <a:extLst>
              <a:ext uri="{FF2B5EF4-FFF2-40B4-BE49-F238E27FC236}">
                <a16:creationId xmlns:a16="http://schemas.microsoft.com/office/drawing/2014/main" id="{DD5F20EC-929D-47AE-5434-A18CA2A820B7}"/>
              </a:ext>
            </a:extLst>
          </p:cNvPr>
          <p:cNvPicPr>
            <a:picLocks noChangeAspect="1"/>
          </p:cNvPicPr>
          <p:nvPr/>
        </p:nvPicPr>
        <p:blipFill>
          <a:blip r:embed="rId3"/>
          <a:srcRect l="1613" r="-1" b="7240"/>
          <a:stretch>
            <a:fillRect/>
          </a:stretch>
        </p:blipFill>
        <p:spPr>
          <a:xfrm>
            <a:off x="7772400" y="1645920"/>
            <a:ext cx="3931920" cy="438912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02920" y="320040"/>
            <a:ext cx="11155680" cy="731520"/>
          </a:xfrm>
          <a:prstGeom prst="rect">
            <a:avLst/>
          </a:prstGeom>
          <a:noFill/>
          <a:ln/>
        </p:spPr>
        <p:txBody>
          <a:bodyPr wrap="square" lIns="0" tIns="0" rIns="0" bIns="0" rtlCol="0" anchor="ctr">
            <a:normAutofit/>
          </a:bodyPr>
          <a:lstStyle/>
          <a:p>
            <a:pPr marL="0" indent="0">
              <a:buNone/>
            </a:pPr>
            <a:r>
              <a:rPr lang="en-US" sz="3200" b="1" dirty="0">
                <a:solidFill>
                  <a:srgbClr val="081E3F"/>
                </a:solidFill>
                <a:latin typeface="Arial" pitchFamily="34" charset="0"/>
                <a:ea typeface="Arial" pitchFamily="34" charset="-122"/>
                <a:cs typeface="Arial" pitchFamily="34" charset="-120"/>
              </a:rPr>
              <a:t>Architecture</a:t>
            </a:r>
            <a:endParaRPr lang="en-US" sz="3200" dirty="0"/>
          </a:p>
        </p:txBody>
      </p:sp>
      <p:sp>
        <p:nvSpPr>
          <p:cNvPr id="4" name="Shape 2"/>
          <p:cNvSpPr/>
          <p:nvPr/>
        </p:nvSpPr>
        <p:spPr>
          <a:xfrm>
            <a:off x="1243089" y="1554480"/>
            <a:ext cx="10026273" cy="4572000"/>
          </a:xfrm>
          <a:prstGeom prst="roundRect">
            <a:avLst>
              <a:gd name="adj" fmla="val 1600"/>
            </a:avLst>
          </a:prstGeom>
          <a:solidFill>
            <a:srgbClr val="F2F4F8"/>
          </a:solidFill>
          <a:ln/>
        </p:spPr>
        <p:txBody>
          <a:bodyPr/>
          <a:lstStyle/>
          <a:p>
            <a:endParaRPr lang="en-US"/>
          </a:p>
        </p:txBody>
      </p:sp>
      <p:sp>
        <p:nvSpPr>
          <p:cNvPr id="5" name="Text 3"/>
          <p:cNvSpPr/>
          <p:nvPr/>
        </p:nvSpPr>
        <p:spPr>
          <a:xfrm>
            <a:off x="502920" y="1554480"/>
            <a:ext cx="11155680" cy="4572000"/>
          </a:xfrm>
          <a:prstGeom prst="rect">
            <a:avLst/>
          </a:prstGeom>
          <a:noFill/>
          <a:ln/>
        </p:spPr>
        <p:txBody>
          <a:bodyPr wrap="square" rtlCol="0" anchor="ctr">
            <a:normAutofit/>
          </a:bodyPr>
          <a:lstStyle/>
          <a:p>
            <a:pPr marL="0" indent="0" algn="ctr">
              <a:buNone/>
            </a:pPr>
            <a:r>
              <a:rPr lang="en-US" sz="1200" i="1" dirty="0">
                <a:solidFill>
                  <a:srgbClr val="5B667E"/>
                </a:solidFill>
                <a:latin typeface="Arial" pitchFamily="34" charset="0"/>
                <a:ea typeface="Arial" pitchFamily="34" charset="-122"/>
                <a:cs typeface="Arial" pitchFamily="34" charset="-120"/>
              </a:rPr>
              <a:t>REPLACE with your architecture diagram — full width, large labels</a:t>
            </a:r>
            <a:endParaRPr lang="en-US" sz="1200" dirty="0"/>
          </a:p>
        </p:txBody>
      </p:sp>
      <p:pic>
        <p:nvPicPr>
          <p:cNvPr id="11" name="Picture 10">
            <a:extLst>
              <a:ext uri="{FF2B5EF4-FFF2-40B4-BE49-F238E27FC236}">
                <a16:creationId xmlns:a16="http://schemas.microsoft.com/office/drawing/2014/main" id="{EDC07EDB-229C-AFAD-620C-5069AA91CF7C}"/>
              </a:ext>
            </a:extLst>
          </p:cNvPr>
          <p:cNvPicPr>
            <a:picLocks noChangeAspect="1"/>
          </p:cNvPicPr>
          <p:nvPr/>
        </p:nvPicPr>
        <p:blipFill>
          <a:blip r:embed="rId3"/>
          <a:stretch>
            <a:fillRect/>
          </a:stretch>
        </p:blipFill>
        <p:spPr>
          <a:xfrm>
            <a:off x="1075039" y="1051560"/>
            <a:ext cx="10194323" cy="507492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02920" y="320040"/>
            <a:ext cx="11155680" cy="731520"/>
          </a:xfrm>
          <a:prstGeom prst="rect">
            <a:avLst/>
          </a:prstGeom>
          <a:noFill/>
          <a:ln/>
        </p:spPr>
        <p:txBody>
          <a:bodyPr wrap="square" lIns="0" tIns="0" rIns="0" bIns="0" rtlCol="0" anchor="ctr">
            <a:normAutofit/>
          </a:bodyPr>
          <a:lstStyle/>
          <a:p>
            <a:pPr marL="0" indent="0">
              <a:buNone/>
            </a:pPr>
            <a:r>
              <a:rPr lang="en-US" sz="3200" b="1" dirty="0">
                <a:solidFill>
                  <a:srgbClr val="081E3F"/>
                </a:solidFill>
                <a:latin typeface="Arial" pitchFamily="34" charset="0"/>
                <a:ea typeface="Arial" pitchFamily="34" charset="-122"/>
                <a:cs typeface="Arial" pitchFamily="34" charset="-120"/>
              </a:rPr>
              <a:t>Live Demo</a:t>
            </a:r>
            <a:endParaRPr lang="en-US" sz="3200" dirty="0"/>
          </a:p>
        </p:txBody>
      </p:sp>
      <p:sp>
        <p:nvSpPr>
          <p:cNvPr id="3" name="Text 1"/>
          <p:cNvSpPr/>
          <p:nvPr/>
        </p:nvSpPr>
        <p:spPr>
          <a:xfrm>
            <a:off x="502920" y="1024128"/>
            <a:ext cx="11155680" cy="365760"/>
          </a:xfrm>
          <a:prstGeom prst="rect">
            <a:avLst/>
          </a:prstGeom>
          <a:noFill/>
          <a:ln/>
        </p:spPr>
        <p:txBody>
          <a:bodyPr wrap="square" lIns="0" tIns="0" rIns="0" bIns="0" rtlCol="0" anchor="ctr"/>
          <a:lstStyle/>
          <a:p>
            <a:pPr marL="0" indent="0">
              <a:buNone/>
            </a:pPr>
            <a:r>
              <a:rPr lang="en-US" sz="1400" i="1" dirty="0">
                <a:solidFill>
                  <a:srgbClr val="5B667E"/>
                </a:solidFill>
                <a:latin typeface="Arial" pitchFamily="34" charset="0"/>
                <a:ea typeface="Arial" pitchFamily="34" charset="-122"/>
                <a:cs typeface="Arial" pitchFamily="34" charset="-120"/>
              </a:rPr>
              <a:t>10 minutes — the heart of your session</a:t>
            </a:r>
            <a:endParaRPr lang="en-US" sz="1400" dirty="0"/>
          </a:p>
        </p:txBody>
      </p:sp>
      <p:sp>
        <p:nvSpPr>
          <p:cNvPr id="4" name="Text 2"/>
          <p:cNvSpPr/>
          <p:nvPr/>
        </p:nvSpPr>
        <p:spPr>
          <a:xfrm>
            <a:off x="502920" y="1645920"/>
            <a:ext cx="11155680" cy="4206240"/>
          </a:xfrm>
          <a:prstGeom prst="rect">
            <a:avLst/>
          </a:prstGeom>
          <a:noFill/>
          <a:ln/>
        </p:spPr>
        <p:txBody>
          <a:bodyPr wrap="square" lIns="0" tIns="0" rIns="0" bIns="0" rtlCol="0" anchor="t">
            <a:normAutofit/>
          </a:bodyPr>
          <a:lstStyle/>
          <a:p>
            <a:pPr marL="0" indent="0">
              <a:buNone/>
            </a:pPr>
            <a:r>
              <a:rPr lang="en-US" sz="1500" i="1" dirty="0">
                <a:solidFill>
                  <a:srgbClr val="5B667E"/>
                </a:solidFill>
                <a:latin typeface="Arial" pitchFamily="34" charset="0"/>
                <a:ea typeface="Arial" pitchFamily="34" charset="-122"/>
                <a:cs typeface="Arial" pitchFamily="34" charset="-120"/>
              </a:rPr>
              <a:t>Switch to screen share of the working system. This slide stays up only as your safety net: list the 3 demo beats you'll show, and keep your backup demo video one click away in case the live demo fails.</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02920" y="320040"/>
            <a:ext cx="11155680" cy="731520"/>
          </a:xfrm>
          <a:prstGeom prst="rect">
            <a:avLst/>
          </a:prstGeom>
          <a:noFill/>
          <a:ln/>
        </p:spPr>
        <p:txBody>
          <a:bodyPr wrap="square" lIns="0" tIns="0" rIns="0" bIns="0" rtlCol="0" anchor="ctr">
            <a:normAutofit/>
          </a:bodyPr>
          <a:lstStyle/>
          <a:p>
            <a:pPr marL="0" indent="0">
              <a:buNone/>
            </a:pPr>
            <a:r>
              <a:rPr lang="en-US" sz="3200" b="1" dirty="0">
                <a:solidFill>
                  <a:srgbClr val="081E3F"/>
                </a:solidFill>
                <a:latin typeface="Arial" pitchFamily="34" charset="0"/>
                <a:ea typeface="Arial" pitchFamily="34" charset="-122"/>
                <a:cs typeface="Arial" pitchFamily="34" charset="-120"/>
              </a:rPr>
              <a:t>Systems &amp; Operations (SO6)</a:t>
            </a:r>
            <a:endParaRPr lang="en-US" sz="3200" dirty="0"/>
          </a:p>
        </p:txBody>
      </p:sp>
      <p:sp>
        <p:nvSpPr>
          <p:cNvPr id="3" name="Text 1"/>
          <p:cNvSpPr/>
          <p:nvPr/>
        </p:nvSpPr>
        <p:spPr>
          <a:xfrm>
            <a:off x="502920" y="1024128"/>
            <a:ext cx="11155680" cy="365760"/>
          </a:xfrm>
          <a:prstGeom prst="rect">
            <a:avLst/>
          </a:prstGeom>
          <a:noFill/>
          <a:ln/>
        </p:spPr>
        <p:txBody>
          <a:bodyPr wrap="square" lIns="0" tIns="0" rIns="0" bIns="0" rtlCol="0" anchor="ctr"/>
          <a:lstStyle/>
          <a:p>
            <a:pPr marL="0" indent="0">
              <a:buNone/>
            </a:pPr>
            <a:r>
              <a:rPr lang="en-US" sz="1400" i="1" dirty="0">
                <a:solidFill>
                  <a:srgbClr val="5B667E"/>
                </a:solidFill>
                <a:latin typeface="Arial" pitchFamily="34" charset="0"/>
                <a:ea typeface="Arial" pitchFamily="34" charset="-122"/>
                <a:cs typeface="Arial" pitchFamily="34" charset="-120"/>
              </a:rPr>
              <a:t>SO6 for Information Technology — Building and Managing a Secure IT Infrastructure </a:t>
            </a:r>
            <a:endParaRPr lang="en-US" sz="1400" dirty="0"/>
          </a:p>
        </p:txBody>
      </p:sp>
      <p:sp>
        <p:nvSpPr>
          <p:cNvPr id="4" name="Text 2"/>
          <p:cNvSpPr/>
          <p:nvPr/>
        </p:nvSpPr>
        <p:spPr>
          <a:xfrm>
            <a:off x="502920" y="1645920"/>
            <a:ext cx="11155680" cy="4206240"/>
          </a:xfrm>
          <a:prstGeom prst="rect">
            <a:avLst/>
          </a:prstGeom>
          <a:noFill/>
          <a:ln/>
        </p:spPr>
        <p:txBody>
          <a:bodyPr wrap="square" lIns="0" tIns="0" rIns="0" bIns="0" rtlCol="0" anchor="t">
            <a:normAutofit/>
          </a:bodyPr>
          <a:lstStyle/>
          <a:p>
            <a:pPr>
              <a:spcAft>
                <a:spcPts val="600"/>
              </a:spcAft>
              <a:buSzPct val="100000"/>
            </a:pPr>
            <a:endParaRPr lang="en-US" sz="1300" dirty="0">
              <a:solidFill>
                <a:srgbClr val="16203A"/>
              </a:solidFill>
              <a:latin typeface="Arial" pitchFamily="34" charset="0"/>
              <a:ea typeface="Arial" pitchFamily="34" charset="-122"/>
              <a:cs typeface="Arial" pitchFamily="34" charset="-120"/>
            </a:endParaRPr>
          </a:p>
          <a:p>
            <a:pPr marL="342900" indent="-342900">
              <a:spcAft>
                <a:spcPts val="600"/>
              </a:spcAft>
              <a:buSzPct val="100000"/>
              <a:buChar char="•"/>
            </a:pPr>
            <a:r>
              <a:rPr lang="en-US" sz="1600" dirty="0">
                <a:latin typeface="Arial" pitchFamily="34" charset="0"/>
                <a:ea typeface="Arial" pitchFamily="34" charset="-122"/>
                <a:cs typeface="Arial" pitchFamily="34" charset="-120"/>
              </a:rPr>
              <a:t>We designed a secure network with VLAN segmentation, </a:t>
            </a:r>
            <a:r>
              <a:rPr lang="en-US" sz="1600" dirty="0" err="1">
                <a:latin typeface="Arial" pitchFamily="34" charset="0"/>
                <a:ea typeface="Arial" pitchFamily="34" charset="-122"/>
                <a:cs typeface="Arial" pitchFamily="34" charset="-120"/>
              </a:rPr>
              <a:t>pfsense</a:t>
            </a:r>
            <a:r>
              <a:rPr lang="en-US" sz="1600" dirty="0">
                <a:latin typeface="Arial" pitchFamily="34" charset="0"/>
                <a:ea typeface="Arial" pitchFamily="34" charset="-122"/>
                <a:cs typeface="Arial" pitchFamily="34" charset="-120"/>
              </a:rPr>
              <a:t> firewall, and OpenVPN for secure remote access. </a:t>
            </a:r>
            <a:endParaRPr lang="en-US" sz="1600" dirty="0"/>
          </a:p>
          <a:p>
            <a:pPr marL="342900" indent="-342900">
              <a:spcAft>
                <a:spcPts val="600"/>
              </a:spcAft>
              <a:buSzPct val="100000"/>
              <a:buChar char="•"/>
            </a:pPr>
            <a:r>
              <a:rPr lang="en-US" sz="1600" dirty="0">
                <a:latin typeface="Arial" pitchFamily="34" charset="0"/>
                <a:ea typeface="Arial" pitchFamily="34" charset="-122"/>
                <a:cs typeface="Arial" pitchFamily="34" charset="-120"/>
              </a:rPr>
              <a:t>We implemented Active Directory, Microsoft ID, and Role Based Access control for centralized identity management.</a:t>
            </a:r>
            <a:endParaRPr lang="en-US" sz="1600" dirty="0"/>
          </a:p>
          <a:p>
            <a:pPr marL="342900" indent="-342900">
              <a:spcAft>
                <a:spcPts val="600"/>
              </a:spcAft>
              <a:buSzPct val="100000"/>
              <a:buChar char="•"/>
            </a:pPr>
            <a:r>
              <a:rPr lang="en-US" sz="1600" dirty="0">
                <a:latin typeface="Arial" pitchFamily="34" charset="0"/>
                <a:ea typeface="Arial" pitchFamily="34" charset="-122"/>
                <a:cs typeface="Arial" pitchFamily="34" charset="-120"/>
              </a:rPr>
              <a:t>We developed a deployed the clinic infrastructure in Microsoft Azure using Windows Server 2022 Virtual Machines  </a:t>
            </a:r>
            <a:endParaRPr lang="en-US" sz="1600" dirty="0"/>
          </a:p>
          <a:p>
            <a:pPr marL="342900" indent="-342900">
              <a:spcAft>
                <a:spcPts val="600"/>
              </a:spcAft>
              <a:buSzPct val="100000"/>
              <a:buChar char="•"/>
            </a:pPr>
            <a:r>
              <a:rPr lang="en-US" sz="1600" dirty="0">
                <a:latin typeface="Arial" pitchFamily="34" charset="0"/>
                <a:ea typeface="Arial" pitchFamily="34" charset="-122"/>
                <a:cs typeface="Arial" pitchFamily="34" charset="-120"/>
              </a:rPr>
              <a:t>We enforced Multi-Factor Authentication, group policies, password complexity, and account lockout policies. </a:t>
            </a:r>
            <a:endParaRPr lang="en-US" sz="1600" dirty="0"/>
          </a:p>
          <a:p>
            <a:pPr marL="342900" indent="-342900">
              <a:spcAft>
                <a:spcPts val="600"/>
              </a:spcAft>
              <a:buSzPct val="100000"/>
              <a:buChar char="•"/>
            </a:pPr>
            <a:r>
              <a:rPr lang="en-US" sz="1600" dirty="0">
                <a:latin typeface="Arial" pitchFamily="34" charset="0"/>
                <a:ea typeface="Arial" pitchFamily="34" charset="-122"/>
                <a:cs typeface="Arial" pitchFamily="34" charset="-120"/>
              </a:rPr>
              <a:t>We used GitHub for team collaboration. </a:t>
            </a:r>
          </a:p>
          <a:p>
            <a:pPr marL="342900" indent="-342900">
              <a:spcAft>
                <a:spcPts val="600"/>
              </a:spcAft>
              <a:buSzPct val="100000"/>
              <a:buChar char="•"/>
            </a:pPr>
            <a:r>
              <a:rPr lang="en-US" sz="1600" dirty="0">
                <a:latin typeface="Arial" pitchFamily="34" charset="0"/>
                <a:cs typeface="Arial" pitchFamily="34" charset="-120"/>
              </a:rPr>
              <a:t>We managed users, security groups, devices, and endpoint compliance using Microsoft Intune and Active Directory. </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02920" y="320040"/>
            <a:ext cx="11155680" cy="731520"/>
          </a:xfrm>
          <a:prstGeom prst="rect">
            <a:avLst/>
          </a:prstGeom>
          <a:noFill/>
          <a:ln/>
        </p:spPr>
        <p:txBody>
          <a:bodyPr wrap="square" lIns="0" tIns="0" rIns="0" bIns="0" rtlCol="0" anchor="ctr">
            <a:normAutofit/>
          </a:bodyPr>
          <a:lstStyle/>
          <a:p>
            <a:pPr marL="0" indent="0">
              <a:buNone/>
            </a:pPr>
            <a:r>
              <a:rPr lang="en-US" sz="3200" b="1" dirty="0">
                <a:solidFill>
                  <a:srgbClr val="081E3F"/>
                </a:solidFill>
                <a:latin typeface="Arial" pitchFamily="34" charset="0"/>
                <a:ea typeface="Arial" pitchFamily="34" charset="-122"/>
                <a:cs typeface="Arial" pitchFamily="34" charset="-120"/>
              </a:rPr>
              <a:t>Results &amp; Evaluation</a:t>
            </a:r>
            <a:endParaRPr lang="en-US" sz="3200" dirty="0"/>
          </a:p>
        </p:txBody>
      </p:sp>
      <p:sp>
        <p:nvSpPr>
          <p:cNvPr id="3" name="Text 1"/>
          <p:cNvSpPr/>
          <p:nvPr/>
        </p:nvSpPr>
        <p:spPr>
          <a:xfrm>
            <a:off x="502920" y="1024128"/>
            <a:ext cx="11155680" cy="365760"/>
          </a:xfrm>
          <a:prstGeom prst="rect">
            <a:avLst/>
          </a:prstGeom>
          <a:noFill/>
          <a:ln/>
        </p:spPr>
        <p:txBody>
          <a:bodyPr wrap="square" lIns="0" tIns="0" rIns="0" bIns="0" rtlCol="0" anchor="ctr"/>
          <a:lstStyle/>
          <a:p>
            <a:pPr marL="0" indent="0">
              <a:buNone/>
            </a:pPr>
            <a:r>
              <a:rPr lang="en-US" sz="1400" i="1" dirty="0">
                <a:solidFill>
                  <a:srgbClr val="5B667E"/>
                </a:solidFill>
                <a:latin typeface="Arial" pitchFamily="34" charset="0"/>
                <a:ea typeface="Arial" pitchFamily="34" charset="-122"/>
                <a:cs typeface="Arial" pitchFamily="34" charset="-120"/>
              </a:rPr>
              <a:t>what you measured, not what you hope</a:t>
            </a:r>
            <a:endParaRPr lang="en-US" sz="1400" dirty="0"/>
          </a:p>
        </p:txBody>
      </p:sp>
      <p:sp>
        <p:nvSpPr>
          <p:cNvPr id="4" name="Text 2"/>
          <p:cNvSpPr/>
          <p:nvPr/>
        </p:nvSpPr>
        <p:spPr>
          <a:xfrm>
            <a:off x="502920" y="1645920"/>
            <a:ext cx="6949440" cy="4389120"/>
          </a:xfrm>
          <a:prstGeom prst="rect">
            <a:avLst/>
          </a:prstGeom>
          <a:noFill/>
          <a:ln/>
        </p:spPr>
        <p:txBody>
          <a:bodyPr wrap="square" lIns="0" tIns="0" rIns="0" bIns="0" rtlCol="0" anchor="t">
            <a:normAutofit/>
          </a:bodyPr>
          <a:lstStyle/>
          <a:p>
            <a:pPr marL="0" indent="0">
              <a:buNone/>
            </a:pPr>
            <a:r>
              <a:rPr lang="en-US" sz="1500" i="1" dirty="0">
                <a:solidFill>
                  <a:srgbClr val="5B667E"/>
                </a:solidFill>
                <a:latin typeface="Arial" pitchFamily="34" charset="0"/>
                <a:ea typeface="Arial" pitchFamily="34" charset="-122"/>
                <a:cs typeface="Arial" pitchFamily="34" charset="-120"/>
              </a:rPr>
              <a:t>Test coverage, performance numbers, user feedback, accuracy metrics — whatever proves it works. Use 2–3 large stat callouts rather than a wall of numbers.</a:t>
            </a:r>
          </a:p>
          <a:p>
            <a:pPr marL="0" indent="0">
              <a:buNone/>
            </a:pPr>
            <a:endParaRPr lang="en-US" sz="1500" i="1" dirty="0">
              <a:solidFill>
                <a:srgbClr val="5B667E"/>
              </a:solidFill>
              <a:latin typeface="Arial" pitchFamily="34" charset="0"/>
              <a:cs typeface="Arial" pitchFamily="34" charset="-120"/>
            </a:endParaRPr>
          </a:p>
          <a:p>
            <a:pPr marL="0" indent="0">
              <a:buNone/>
            </a:pPr>
            <a:r>
              <a:rPr lang="en-US" sz="1600" dirty="0">
                <a:latin typeface="Arial" pitchFamily="34" charset="0"/>
                <a:cs typeface="Arial" pitchFamily="34" charset="-120"/>
              </a:rPr>
              <a:t>Security Validation Results:</a:t>
            </a:r>
          </a:p>
          <a:p>
            <a:pPr marL="285750" indent="-285750">
              <a:buFontTx/>
              <a:buChar char="-"/>
            </a:pPr>
            <a:r>
              <a:rPr lang="en-US" sz="1600" dirty="0">
                <a:latin typeface="Arial" pitchFamily="34" charset="0"/>
                <a:cs typeface="Arial" pitchFamily="34" charset="-120"/>
              </a:rPr>
              <a:t>Verified audit logging, password policies, account lockout</a:t>
            </a:r>
          </a:p>
          <a:p>
            <a:pPr marL="285750" indent="-285750">
              <a:buFontTx/>
              <a:buChar char="-"/>
            </a:pPr>
            <a:r>
              <a:rPr lang="en-US" sz="1600" dirty="0">
                <a:latin typeface="Arial" pitchFamily="34" charset="0"/>
                <a:cs typeface="Arial" pitchFamily="34" charset="-120"/>
              </a:rPr>
              <a:t>Successfully validated Active Directory authentication, VPN connectivity, multi-factor Authentication and firewall protection </a:t>
            </a:r>
          </a:p>
          <a:p>
            <a:pPr marL="285750" indent="-285750">
              <a:buFontTx/>
              <a:buChar char="-"/>
            </a:pPr>
            <a:endParaRPr lang="en-US" sz="1600" dirty="0">
              <a:latin typeface="Arial" pitchFamily="34" charset="0"/>
              <a:cs typeface="Arial" pitchFamily="34" charset="-120"/>
            </a:endParaRPr>
          </a:p>
          <a:p>
            <a:r>
              <a:rPr lang="en-US" sz="1600" dirty="0">
                <a:latin typeface="Arial" pitchFamily="34" charset="0"/>
                <a:cs typeface="Arial" pitchFamily="34" charset="-120"/>
              </a:rPr>
              <a:t>Key Outcomes:</a:t>
            </a:r>
          </a:p>
          <a:p>
            <a:pPr marL="285750" indent="-285750">
              <a:buFontTx/>
              <a:buChar char="-"/>
            </a:pPr>
            <a:r>
              <a:rPr lang="en-US" sz="1600" dirty="0">
                <a:latin typeface="Arial" pitchFamily="34" charset="0"/>
                <a:cs typeface="Arial" pitchFamily="34" charset="-120"/>
              </a:rPr>
              <a:t>Centralized identity management</a:t>
            </a:r>
          </a:p>
          <a:p>
            <a:pPr marL="285750" indent="-285750">
              <a:buFontTx/>
              <a:buChar char="-"/>
            </a:pPr>
            <a:r>
              <a:rPr lang="en-US" sz="1600" dirty="0">
                <a:latin typeface="Arial" pitchFamily="34" charset="0"/>
                <a:cs typeface="Arial" pitchFamily="34" charset="-120"/>
              </a:rPr>
              <a:t>Secure remote access</a:t>
            </a:r>
          </a:p>
          <a:p>
            <a:pPr marL="285750" indent="-285750">
              <a:buFontTx/>
              <a:buChar char="-"/>
            </a:pPr>
            <a:r>
              <a:rPr lang="en-US" sz="1600" dirty="0">
                <a:latin typeface="Arial" pitchFamily="34" charset="0"/>
                <a:cs typeface="Arial" pitchFamily="34" charset="-120"/>
              </a:rPr>
              <a:t>Layered security controls</a:t>
            </a:r>
          </a:p>
          <a:p>
            <a:pPr marL="285750" indent="-285750">
              <a:buFontTx/>
              <a:buChar char="-"/>
            </a:pPr>
            <a:r>
              <a:rPr lang="en-US" sz="1600" dirty="0">
                <a:latin typeface="Arial" pitchFamily="34" charset="0"/>
                <a:cs typeface="Arial" pitchFamily="34" charset="-120"/>
              </a:rPr>
              <a:t>Scalable Azure infrastructure</a:t>
            </a:r>
          </a:p>
          <a:p>
            <a:pPr marL="0" indent="0">
              <a:buNone/>
            </a:pPr>
            <a:endParaRPr lang="en-US" sz="1500" dirty="0"/>
          </a:p>
        </p:txBody>
      </p:sp>
      <p:sp>
        <p:nvSpPr>
          <p:cNvPr id="5" name="Shape 3"/>
          <p:cNvSpPr/>
          <p:nvPr/>
        </p:nvSpPr>
        <p:spPr>
          <a:xfrm>
            <a:off x="7772400" y="1645920"/>
            <a:ext cx="3931920" cy="4389120"/>
          </a:xfrm>
          <a:prstGeom prst="roundRect">
            <a:avLst>
              <a:gd name="adj" fmla="val 1860"/>
            </a:avLst>
          </a:prstGeom>
          <a:solidFill>
            <a:srgbClr val="F2F4F8"/>
          </a:solidFill>
          <a:ln/>
        </p:spPr>
        <p:txBody>
          <a:bodyPr/>
          <a:lstStyle/>
          <a:p>
            <a:endParaRPr lang="en-US"/>
          </a:p>
        </p:txBody>
      </p:sp>
      <p:sp>
        <p:nvSpPr>
          <p:cNvPr id="6" name="Text 4"/>
          <p:cNvSpPr/>
          <p:nvPr/>
        </p:nvSpPr>
        <p:spPr>
          <a:xfrm>
            <a:off x="7772400" y="1645920"/>
            <a:ext cx="3931920" cy="4389120"/>
          </a:xfrm>
          <a:prstGeom prst="rect">
            <a:avLst/>
          </a:prstGeom>
          <a:noFill/>
          <a:ln/>
        </p:spPr>
        <p:txBody>
          <a:bodyPr wrap="square" rtlCol="0" anchor="ctr">
            <a:normAutofit/>
          </a:bodyPr>
          <a:lstStyle/>
          <a:p>
            <a:pPr marL="0" indent="0" algn="ctr">
              <a:buNone/>
            </a:pPr>
            <a:endParaRPr lang="en-US" sz="1200" dirty="0"/>
          </a:p>
        </p:txBody>
      </p:sp>
      <p:graphicFrame>
        <p:nvGraphicFramePr>
          <p:cNvPr id="8" name="Table 7">
            <a:extLst>
              <a:ext uri="{FF2B5EF4-FFF2-40B4-BE49-F238E27FC236}">
                <a16:creationId xmlns:a16="http://schemas.microsoft.com/office/drawing/2014/main" id="{4448FA16-11B2-12BA-D8B0-540A7D3556E3}"/>
              </a:ext>
            </a:extLst>
          </p:cNvPr>
          <p:cNvGraphicFramePr>
            <a:graphicFrameLocks noGrp="1"/>
          </p:cNvGraphicFramePr>
          <p:nvPr>
            <p:extLst>
              <p:ext uri="{D42A27DB-BD31-4B8C-83A1-F6EECF244321}">
                <p14:modId xmlns:p14="http://schemas.microsoft.com/office/powerpoint/2010/main" val="1400058681"/>
              </p:ext>
            </p:extLst>
          </p:nvPr>
        </p:nvGraphicFramePr>
        <p:xfrm>
          <a:off x="7772400" y="1645921"/>
          <a:ext cx="3916680" cy="4389119"/>
        </p:xfrm>
        <a:graphic>
          <a:graphicData uri="http://schemas.openxmlformats.org/drawingml/2006/table">
            <a:tbl>
              <a:tblPr/>
              <a:tblGrid>
                <a:gridCol w="1958340">
                  <a:extLst>
                    <a:ext uri="{9D8B030D-6E8A-4147-A177-3AD203B41FA5}">
                      <a16:colId xmlns:a16="http://schemas.microsoft.com/office/drawing/2014/main" val="825932411"/>
                    </a:ext>
                  </a:extLst>
                </a:gridCol>
                <a:gridCol w="1958340">
                  <a:extLst>
                    <a:ext uri="{9D8B030D-6E8A-4147-A177-3AD203B41FA5}">
                      <a16:colId xmlns:a16="http://schemas.microsoft.com/office/drawing/2014/main" val="2603923251"/>
                    </a:ext>
                  </a:extLst>
                </a:gridCol>
              </a:tblGrid>
              <a:tr h="383026">
                <a:tc>
                  <a:txBody>
                    <a:bodyPr/>
                    <a:lstStyle/>
                    <a:p>
                      <a:pPr algn="ctr">
                        <a:buNone/>
                      </a:pPr>
                      <a:r>
                        <a:rPr lang="en-US" sz="1600" b="1" dirty="0">
                          <a:latin typeface="Arial" panose="020B0604020202020204" pitchFamily="34" charset="0"/>
                          <a:cs typeface="Arial" panose="020B0604020202020204" pitchFamily="34" charset="0"/>
                        </a:rPr>
                        <a:t>Metric</a:t>
                      </a:r>
                    </a:p>
                  </a:txBody>
                  <a:tcPr anchor="ctr">
                    <a:lnL>
                      <a:noFill/>
                    </a:lnL>
                    <a:lnR>
                      <a:noFill/>
                    </a:lnR>
                    <a:lnT>
                      <a:noFill/>
                    </a:lnT>
                    <a:lnB>
                      <a:noFill/>
                    </a:lnB>
                    <a:noFill/>
                  </a:tcPr>
                </a:tc>
                <a:tc>
                  <a:txBody>
                    <a:bodyPr/>
                    <a:lstStyle/>
                    <a:p>
                      <a:pPr algn="l">
                        <a:buNone/>
                      </a:pPr>
                      <a:r>
                        <a:rPr lang="en-US" sz="1600" b="1" dirty="0">
                          <a:latin typeface="Arial" panose="020B0604020202020204" pitchFamily="34" charset="0"/>
                          <a:cs typeface="Arial" panose="020B0604020202020204" pitchFamily="34" charset="0"/>
                        </a:rPr>
                        <a:t>  Result</a:t>
                      </a:r>
                    </a:p>
                  </a:txBody>
                  <a:tcPr anchor="ctr">
                    <a:lnL>
                      <a:noFill/>
                    </a:lnL>
                    <a:lnR>
                      <a:noFill/>
                    </a:lnR>
                    <a:lnT>
                      <a:noFill/>
                    </a:lnT>
                    <a:lnB>
                      <a:noFill/>
                    </a:lnB>
                    <a:noFill/>
                  </a:tcPr>
                </a:tc>
                <a:extLst>
                  <a:ext uri="{0D108BD9-81ED-4DB2-BD59-A6C34878D82A}">
                    <a16:rowId xmlns:a16="http://schemas.microsoft.com/office/drawing/2014/main" val="790823748"/>
                  </a:ext>
                </a:extLst>
              </a:tr>
              <a:tr h="805127">
                <a:tc>
                  <a:txBody>
                    <a:bodyPr/>
                    <a:lstStyle/>
                    <a:p>
                      <a:pPr>
                        <a:buNone/>
                      </a:pPr>
                      <a:r>
                        <a:rPr lang="en-US" sz="1600" dirty="0">
                          <a:latin typeface="Arial" panose="020B0604020202020204" pitchFamily="34" charset="0"/>
                          <a:cs typeface="Arial" panose="020B0604020202020204" pitchFamily="34" charset="0"/>
                        </a:rPr>
                        <a:t>Security Validation Tests</a:t>
                      </a:r>
                    </a:p>
                  </a:txBody>
                  <a:tcPr anchor="ctr">
                    <a:lnL>
                      <a:noFill/>
                    </a:lnL>
                    <a:lnR>
                      <a:noFill/>
                    </a:lnR>
                    <a:lnT>
                      <a:noFill/>
                    </a:lnT>
                    <a:lnB>
                      <a:noFill/>
                    </a:lnB>
                    <a:noFill/>
                  </a:tcPr>
                </a:tc>
                <a:tc>
                  <a:txBody>
                    <a:bodyPr/>
                    <a:lstStyle/>
                    <a:p>
                      <a:pPr>
                        <a:buNone/>
                      </a:pPr>
                      <a:r>
                        <a:rPr lang="en-US" sz="1600" b="1" dirty="0">
                          <a:latin typeface="Arial" panose="020B0604020202020204" pitchFamily="34" charset="0"/>
                          <a:cs typeface="Arial" panose="020B0604020202020204" pitchFamily="34" charset="0"/>
                        </a:rPr>
                        <a:t>9/9 Passed  </a:t>
                      </a:r>
                      <a:endParaRPr lang="en-US" sz="1600" dirty="0">
                        <a:latin typeface="Arial" panose="020B0604020202020204" pitchFamily="34" charset="0"/>
                        <a:cs typeface="Arial" panose="020B0604020202020204" pitchFamily="34" charset="0"/>
                      </a:endParaRPr>
                    </a:p>
                  </a:txBody>
                  <a:tcPr anchor="ctr">
                    <a:lnL>
                      <a:noFill/>
                    </a:lnL>
                    <a:lnR>
                      <a:noFill/>
                    </a:lnR>
                    <a:lnT>
                      <a:noFill/>
                    </a:lnT>
                    <a:lnB>
                      <a:noFill/>
                    </a:lnB>
                    <a:noFill/>
                  </a:tcPr>
                </a:tc>
                <a:extLst>
                  <a:ext uri="{0D108BD9-81ED-4DB2-BD59-A6C34878D82A}">
                    <a16:rowId xmlns:a16="http://schemas.microsoft.com/office/drawing/2014/main" val="3716496735"/>
                  </a:ext>
                </a:extLst>
              </a:tr>
              <a:tr h="563588">
                <a:tc>
                  <a:txBody>
                    <a:bodyPr/>
                    <a:lstStyle/>
                    <a:p>
                      <a:pPr>
                        <a:buNone/>
                      </a:pPr>
                      <a:r>
                        <a:rPr lang="en-US" sz="1600" dirty="0">
                          <a:latin typeface="Arial" panose="020B0604020202020204" pitchFamily="34" charset="0"/>
                          <a:cs typeface="Arial" panose="020B0604020202020204" pitchFamily="34" charset="0"/>
                        </a:rPr>
                        <a:t>Authentication</a:t>
                      </a:r>
                    </a:p>
                  </a:txBody>
                  <a:tcPr anchor="ctr">
                    <a:lnL>
                      <a:noFill/>
                    </a:lnL>
                    <a:lnR>
                      <a:noFill/>
                    </a:lnR>
                    <a:lnT>
                      <a:noFill/>
                    </a:lnT>
                    <a:lnB>
                      <a:noFill/>
                    </a:lnB>
                    <a:noFill/>
                  </a:tcPr>
                </a:tc>
                <a:tc>
                  <a:txBody>
                    <a:bodyPr/>
                    <a:lstStyle/>
                    <a:p>
                      <a:pPr>
                        <a:buNone/>
                      </a:pPr>
                      <a:r>
                        <a:rPr lang="en-US" sz="1600" b="1">
                          <a:latin typeface="Arial" panose="020B0604020202020204" pitchFamily="34" charset="0"/>
                          <a:cs typeface="Arial" panose="020B0604020202020204" pitchFamily="34" charset="0"/>
                        </a:rPr>
                        <a:t>Successful</a:t>
                      </a:r>
                      <a:endParaRPr lang="en-US" sz="1600">
                        <a:latin typeface="Arial" panose="020B0604020202020204" pitchFamily="34" charset="0"/>
                        <a:cs typeface="Arial" panose="020B0604020202020204" pitchFamily="34" charset="0"/>
                      </a:endParaRPr>
                    </a:p>
                  </a:txBody>
                  <a:tcPr anchor="ctr">
                    <a:lnL>
                      <a:noFill/>
                    </a:lnL>
                    <a:lnR>
                      <a:noFill/>
                    </a:lnR>
                    <a:lnT>
                      <a:noFill/>
                    </a:lnT>
                    <a:lnB>
                      <a:noFill/>
                    </a:lnB>
                    <a:noFill/>
                  </a:tcPr>
                </a:tc>
                <a:extLst>
                  <a:ext uri="{0D108BD9-81ED-4DB2-BD59-A6C34878D82A}">
                    <a16:rowId xmlns:a16="http://schemas.microsoft.com/office/drawing/2014/main" val="1875215117"/>
                  </a:ext>
                </a:extLst>
              </a:tr>
              <a:tr h="563588">
                <a:tc>
                  <a:txBody>
                    <a:bodyPr/>
                    <a:lstStyle/>
                    <a:p>
                      <a:pPr>
                        <a:buNone/>
                      </a:pPr>
                      <a:r>
                        <a:rPr lang="en-US" sz="1600" dirty="0">
                          <a:latin typeface="Arial" panose="020B0604020202020204" pitchFamily="34" charset="0"/>
                          <a:cs typeface="Arial" panose="020B0604020202020204" pitchFamily="34" charset="0"/>
                        </a:rPr>
                        <a:t>RBAC Verification</a:t>
                      </a:r>
                    </a:p>
                  </a:txBody>
                  <a:tcPr anchor="ctr">
                    <a:lnL>
                      <a:noFill/>
                    </a:lnL>
                    <a:lnR>
                      <a:noFill/>
                    </a:lnR>
                    <a:lnT>
                      <a:noFill/>
                    </a:lnT>
                    <a:lnB>
                      <a:noFill/>
                    </a:lnB>
                    <a:noFill/>
                  </a:tcPr>
                </a:tc>
                <a:tc>
                  <a:txBody>
                    <a:bodyPr/>
                    <a:lstStyle/>
                    <a:p>
                      <a:pPr>
                        <a:buNone/>
                      </a:pPr>
                      <a:r>
                        <a:rPr lang="en-US" sz="1600" b="1">
                          <a:latin typeface="Arial" panose="020B0604020202020204" pitchFamily="34" charset="0"/>
                          <a:cs typeface="Arial" panose="020B0604020202020204" pitchFamily="34" charset="0"/>
                        </a:rPr>
                        <a:t>Passed</a:t>
                      </a:r>
                      <a:endParaRPr lang="en-US" sz="1600">
                        <a:latin typeface="Arial" panose="020B0604020202020204" pitchFamily="34" charset="0"/>
                        <a:cs typeface="Arial" panose="020B0604020202020204" pitchFamily="34" charset="0"/>
                      </a:endParaRPr>
                    </a:p>
                  </a:txBody>
                  <a:tcPr anchor="ctr">
                    <a:lnL>
                      <a:noFill/>
                    </a:lnL>
                    <a:lnR>
                      <a:noFill/>
                    </a:lnR>
                    <a:lnT>
                      <a:noFill/>
                    </a:lnT>
                    <a:lnB>
                      <a:noFill/>
                    </a:lnB>
                    <a:noFill/>
                  </a:tcPr>
                </a:tc>
                <a:extLst>
                  <a:ext uri="{0D108BD9-81ED-4DB2-BD59-A6C34878D82A}">
                    <a16:rowId xmlns:a16="http://schemas.microsoft.com/office/drawing/2014/main" val="4106706682"/>
                  </a:ext>
                </a:extLst>
              </a:tr>
              <a:tr h="383026">
                <a:tc>
                  <a:txBody>
                    <a:bodyPr/>
                    <a:lstStyle/>
                    <a:p>
                      <a:pPr>
                        <a:buNone/>
                      </a:pPr>
                      <a:r>
                        <a:rPr lang="en-US" sz="1600" dirty="0">
                          <a:latin typeface="Arial" panose="020B0604020202020204" pitchFamily="34" charset="0"/>
                          <a:cs typeface="Arial" panose="020B0604020202020204" pitchFamily="34" charset="0"/>
                        </a:rPr>
                        <a:t>VPN + MFA</a:t>
                      </a:r>
                    </a:p>
                  </a:txBody>
                  <a:tcPr anchor="ctr">
                    <a:lnL>
                      <a:noFill/>
                    </a:lnL>
                    <a:lnR>
                      <a:noFill/>
                    </a:lnR>
                    <a:lnT>
                      <a:noFill/>
                    </a:lnT>
                    <a:lnB>
                      <a:noFill/>
                    </a:lnB>
                    <a:noFill/>
                  </a:tcPr>
                </a:tc>
                <a:tc>
                  <a:txBody>
                    <a:bodyPr/>
                    <a:lstStyle/>
                    <a:p>
                      <a:pPr>
                        <a:buNone/>
                      </a:pPr>
                      <a:r>
                        <a:rPr lang="en-US" sz="1600" b="1">
                          <a:latin typeface="Arial" panose="020B0604020202020204" pitchFamily="34" charset="0"/>
                          <a:cs typeface="Arial" panose="020B0604020202020204" pitchFamily="34" charset="0"/>
                        </a:rPr>
                        <a:t>Verified</a:t>
                      </a:r>
                      <a:endParaRPr lang="en-US" sz="1600">
                        <a:latin typeface="Arial" panose="020B0604020202020204" pitchFamily="34" charset="0"/>
                        <a:cs typeface="Arial" panose="020B0604020202020204" pitchFamily="34" charset="0"/>
                      </a:endParaRPr>
                    </a:p>
                  </a:txBody>
                  <a:tcPr anchor="ctr">
                    <a:lnL>
                      <a:noFill/>
                    </a:lnL>
                    <a:lnR>
                      <a:noFill/>
                    </a:lnR>
                    <a:lnT>
                      <a:noFill/>
                    </a:lnT>
                    <a:lnB>
                      <a:noFill/>
                    </a:lnB>
                    <a:noFill/>
                  </a:tcPr>
                </a:tc>
                <a:extLst>
                  <a:ext uri="{0D108BD9-81ED-4DB2-BD59-A6C34878D82A}">
                    <a16:rowId xmlns:a16="http://schemas.microsoft.com/office/drawing/2014/main" val="2431343934"/>
                  </a:ext>
                </a:extLst>
              </a:tr>
              <a:tr h="563588">
                <a:tc>
                  <a:txBody>
                    <a:bodyPr/>
                    <a:lstStyle/>
                    <a:p>
                      <a:pPr>
                        <a:buNone/>
                      </a:pPr>
                      <a:r>
                        <a:rPr lang="en-US" sz="1600" dirty="0">
                          <a:latin typeface="Arial" panose="020B0604020202020204" pitchFamily="34" charset="0"/>
                          <a:cs typeface="Arial" panose="020B0604020202020204" pitchFamily="34" charset="0"/>
                        </a:rPr>
                        <a:t>Firewall Protection</a:t>
                      </a:r>
                    </a:p>
                  </a:txBody>
                  <a:tcPr anchor="ctr">
                    <a:lnL>
                      <a:noFill/>
                    </a:lnL>
                    <a:lnR>
                      <a:noFill/>
                    </a:lnR>
                    <a:lnT>
                      <a:noFill/>
                    </a:lnT>
                    <a:lnB>
                      <a:noFill/>
                    </a:lnB>
                    <a:noFill/>
                  </a:tcPr>
                </a:tc>
                <a:tc>
                  <a:txBody>
                    <a:bodyPr/>
                    <a:lstStyle/>
                    <a:p>
                      <a:pPr>
                        <a:buNone/>
                      </a:pPr>
                      <a:r>
                        <a:rPr lang="en-US" sz="1600" b="1">
                          <a:latin typeface="Arial" panose="020B0604020202020204" pitchFamily="34" charset="0"/>
                          <a:cs typeface="Arial" panose="020B0604020202020204" pitchFamily="34" charset="0"/>
                        </a:rPr>
                        <a:t>Passed</a:t>
                      </a:r>
                      <a:endParaRPr lang="en-US" sz="1600">
                        <a:latin typeface="Arial" panose="020B0604020202020204" pitchFamily="34" charset="0"/>
                        <a:cs typeface="Arial" panose="020B0604020202020204" pitchFamily="34" charset="0"/>
                      </a:endParaRPr>
                    </a:p>
                  </a:txBody>
                  <a:tcPr anchor="ctr">
                    <a:lnL>
                      <a:noFill/>
                    </a:lnL>
                    <a:lnR>
                      <a:noFill/>
                    </a:lnR>
                    <a:lnT>
                      <a:noFill/>
                    </a:lnT>
                    <a:lnB>
                      <a:noFill/>
                    </a:lnB>
                    <a:noFill/>
                  </a:tcPr>
                </a:tc>
                <a:extLst>
                  <a:ext uri="{0D108BD9-81ED-4DB2-BD59-A6C34878D82A}">
                    <a16:rowId xmlns:a16="http://schemas.microsoft.com/office/drawing/2014/main" val="2691836952"/>
                  </a:ext>
                </a:extLst>
              </a:tr>
              <a:tr h="563588">
                <a:tc>
                  <a:txBody>
                    <a:bodyPr/>
                    <a:lstStyle/>
                    <a:p>
                      <a:pPr>
                        <a:buNone/>
                      </a:pPr>
                      <a:r>
                        <a:rPr lang="en-US" sz="1600">
                          <a:latin typeface="Arial" panose="020B0604020202020204" pitchFamily="34" charset="0"/>
                          <a:cs typeface="Arial" panose="020B0604020202020204" pitchFamily="34" charset="0"/>
                        </a:rPr>
                        <a:t>Audit Logging</a:t>
                      </a:r>
                    </a:p>
                  </a:txBody>
                  <a:tcPr anchor="ctr">
                    <a:lnL>
                      <a:noFill/>
                    </a:lnL>
                    <a:lnR>
                      <a:noFill/>
                    </a:lnR>
                    <a:lnT>
                      <a:noFill/>
                    </a:lnT>
                    <a:lnB>
                      <a:noFill/>
                    </a:lnB>
                    <a:noFill/>
                  </a:tcPr>
                </a:tc>
                <a:tc>
                  <a:txBody>
                    <a:bodyPr/>
                    <a:lstStyle/>
                    <a:p>
                      <a:pPr>
                        <a:buNone/>
                      </a:pPr>
                      <a:r>
                        <a:rPr lang="en-US" sz="1600" b="1" dirty="0">
                          <a:latin typeface="Arial" panose="020B0604020202020204" pitchFamily="34" charset="0"/>
                          <a:cs typeface="Arial" panose="020B0604020202020204" pitchFamily="34" charset="0"/>
                        </a:rPr>
                        <a:t>Verified</a:t>
                      </a:r>
                      <a:endParaRPr lang="en-US" sz="1600" dirty="0">
                        <a:latin typeface="Arial" panose="020B0604020202020204" pitchFamily="34" charset="0"/>
                        <a:cs typeface="Arial" panose="020B0604020202020204" pitchFamily="34" charset="0"/>
                      </a:endParaRPr>
                    </a:p>
                  </a:txBody>
                  <a:tcPr anchor="ctr">
                    <a:lnL>
                      <a:noFill/>
                    </a:lnL>
                    <a:lnR>
                      <a:noFill/>
                    </a:lnR>
                    <a:lnT>
                      <a:noFill/>
                    </a:lnT>
                    <a:lnB>
                      <a:noFill/>
                    </a:lnB>
                    <a:noFill/>
                  </a:tcPr>
                </a:tc>
                <a:extLst>
                  <a:ext uri="{0D108BD9-81ED-4DB2-BD59-A6C34878D82A}">
                    <a16:rowId xmlns:a16="http://schemas.microsoft.com/office/drawing/2014/main" val="3250601934"/>
                  </a:ext>
                </a:extLst>
              </a:tr>
              <a:tr h="563588">
                <a:tc>
                  <a:txBody>
                    <a:bodyPr/>
                    <a:lstStyle/>
                    <a:p>
                      <a:pPr>
                        <a:buNone/>
                      </a:pPr>
                      <a:r>
                        <a:rPr lang="en-US" sz="1600">
                          <a:latin typeface="Arial" panose="020B0604020202020204" pitchFamily="34" charset="0"/>
                          <a:cs typeface="Arial" panose="020B0604020202020204" pitchFamily="34" charset="0"/>
                        </a:rPr>
                        <a:t>Backup Validation</a:t>
                      </a:r>
                    </a:p>
                  </a:txBody>
                  <a:tcPr anchor="ctr">
                    <a:lnL>
                      <a:noFill/>
                    </a:lnL>
                    <a:lnR>
                      <a:noFill/>
                    </a:lnR>
                    <a:lnT>
                      <a:noFill/>
                    </a:lnT>
                    <a:lnB>
                      <a:noFill/>
                    </a:lnB>
                    <a:noFill/>
                  </a:tcPr>
                </a:tc>
                <a:tc>
                  <a:txBody>
                    <a:bodyPr/>
                    <a:lstStyle/>
                    <a:p>
                      <a:pPr>
                        <a:buNone/>
                      </a:pPr>
                      <a:r>
                        <a:rPr lang="en-US" sz="1600" b="1" dirty="0">
                          <a:latin typeface="Arial" panose="020B0604020202020204" pitchFamily="34" charset="0"/>
                          <a:cs typeface="Arial" panose="020B0604020202020204" pitchFamily="34" charset="0"/>
                        </a:rPr>
                        <a:t>Successful</a:t>
                      </a:r>
                      <a:endParaRPr lang="en-US" sz="1600" dirty="0">
                        <a:latin typeface="Arial" panose="020B0604020202020204" pitchFamily="34" charset="0"/>
                        <a:cs typeface="Arial" panose="020B0604020202020204" pitchFamily="34" charset="0"/>
                      </a:endParaRPr>
                    </a:p>
                  </a:txBody>
                  <a:tcPr anchor="ctr">
                    <a:lnL>
                      <a:noFill/>
                    </a:lnL>
                    <a:lnR>
                      <a:noFill/>
                    </a:lnR>
                    <a:lnT>
                      <a:noFill/>
                    </a:lnT>
                    <a:lnB>
                      <a:noFill/>
                    </a:lnB>
                    <a:noFill/>
                  </a:tcPr>
                </a:tc>
                <a:extLst>
                  <a:ext uri="{0D108BD9-81ED-4DB2-BD59-A6C34878D82A}">
                    <a16:rowId xmlns:a16="http://schemas.microsoft.com/office/drawing/2014/main" val="4119543879"/>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02920" y="320040"/>
            <a:ext cx="11155680" cy="731520"/>
          </a:xfrm>
          <a:prstGeom prst="rect">
            <a:avLst/>
          </a:prstGeom>
          <a:noFill/>
          <a:ln/>
        </p:spPr>
        <p:txBody>
          <a:bodyPr wrap="square" lIns="0" tIns="0" rIns="0" bIns="0" rtlCol="0" anchor="ctr">
            <a:normAutofit/>
          </a:bodyPr>
          <a:lstStyle/>
          <a:p>
            <a:pPr marL="0" indent="0">
              <a:buNone/>
            </a:pPr>
            <a:r>
              <a:rPr lang="en-US" sz="3200" b="1" dirty="0">
                <a:solidFill>
                  <a:srgbClr val="081E3F"/>
                </a:solidFill>
                <a:latin typeface="Arial" pitchFamily="34" charset="0"/>
                <a:ea typeface="Arial" pitchFamily="34" charset="-122"/>
                <a:cs typeface="Arial" pitchFamily="34" charset="-120"/>
              </a:rPr>
              <a:t>How We Worked</a:t>
            </a:r>
            <a:endParaRPr lang="en-US" sz="3200" dirty="0"/>
          </a:p>
        </p:txBody>
      </p:sp>
      <p:sp>
        <p:nvSpPr>
          <p:cNvPr id="3" name="Text 1"/>
          <p:cNvSpPr/>
          <p:nvPr/>
        </p:nvSpPr>
        <p:spPr>
          <a:xfrm>
            <a:off x="502920" y="1024128"/>
            <a:ext cx="11155680" cy="365760"/>
          </a:xfrm>
          <a:prstGeom prst="rect">
            <a:avLst/>
          </a:prstGeom>
          <a:noFill/>
          <a:ln/>
        </p:spPr>
        <p:txBody>
          <a:bodyPr wrap="square" lIns="0" tIns="0" rIns="0" bIns="0" rtlCol="0" anchor="ctr"/>
          <a:lstStyle/>
          <a:p>
            <a:pPr marL="0" indent="0">
              <a:buNone/>
            </a:pPr>
            <a:r>
              <a:rPr lang="en-US" sz="1400" i="1" dirty="0">
                <a:solidFill>
                  <a:srgbClr val="5B667E"/>
                </a:solidFill>
                <a:latin typeface="Arial" pitchFamily="34" charset="0"/>
                <a:ea typeface="Arial" pitchFamily="34" charset="-122"/>
                <a:cs typeface="Arial" pitchFamily="34" charset="-120"/>
              </a:rPr>
              <a:t>SO5 teamwork · SO4 professional judgment</a:t>
            </a:r>
            <a:endParaRPr lang="en-US" sz="1400" dirty="0"/>
          </a:p>
        </p:txBody>
      </p:sp>
      <p:sp>
        <p:nvSpPr>
          <p:cNvPr id="4" name="Text 2"/>
          <p:cNvSpPr/>
          <p:nvPr/>
        </p:nvSpPr>
        <p:spPr>
          <a:xfrm>
            <a:off x="502920" y="1645920"/>
            <a:ext cx="11155680" cy="4206240"/>
          </a:xfrm>
          <a:prstGeom prst="rect">
            <a:avLst/>
          </a:prstGeom>
          <a:noFill/>
          <a:ln/>
        </p:spPr>
        <p:txBody>
          <a:bodyPr wrap="square" lIns="0" tIns="0" rIns="0" bIns="0" rtlCol="0" anchor="t">
            <a:normAutofit/>
          </a:bodyPr>
          <a:lstStyle/>
          <a:p>
            <a:pPr marL="0" indent="0">
              <a:buNone/>
            </a:pPr>
            <a:endParaRPr lang="en-US" sz="1500" i="1" dirty="0">
              <a:solidFill>
                <a:srgbClr val="5B667E"/>
              </a:solidFill>
              <a:latin typeface="Arial" pitchFamily="34" charset="0"/>
              <a:cs typeface="Arial" pitchFamily="34" charset="-120"/>
            </a:endParaRPr>
          </a:p>
          <a:p>
            <a:pPr marL="0" indent="0">
              <a:buNone/>
            </a:pPr>
            <a:endParaRPr lang="en-US" sz="1500" dirty="0"/>
          </a:p>
        </p:txBody>
      </p:sp>
      <p:sp>
        <p:nvSpPr>
          <p:cNvPr id="6" name="TextBox 5">
            <a:extLst>
              <a:ext uri="{FF2B5EF4-FFF2-40B4-BE49-F238E27FC236}">
                <a16:creationId xmlns:a16="http://schemas.microsoft.com/office/drawing/2014/main" id="{70A53021-3EBA-6392-0BC0-C4AC4ECF1DD4}"/>
              </a:ext>
            </a:extLst>
          </p:cNvPr>
          <p:cNvSpPr txBox="1"/>
          <p:nvPr/>
        </p:nvSpPr>
        <p:spPr>
          <a:xfrm>
            <a:off x="399197" y="1627611"/>
            <a:ext cx="11065216" cy="1077218"/>
          </a:xfrm>
          <a:prstGeom prst="rect">
            <a:avLst/>
          </a:prstGeom>
          <a:noFill/>
        </p:spPr>
        <p:txBody>
          <a:bodyPr wrap="square">
            <a:spAutoFit/>
          </a:bodyPr>
          <a:lstStyle/>
          <a:p>
            <a:r>
              <a:rPr lang="en-US" sz="1600" dirty="0">
                <a:latin typeface="Arial" panose="020B0604020202020204" pitchFamily="34" charset="0"/>
                <a:cs typeface="Arial" panose="020B0604020202020204" pitchFamily="34" charset="0"/>
              </a:rPr>
              <a:t>Agile Team Collaboration:</a:t>
            </a:r>
          </a:p>
          <a:p>
            <a:pPr marL="285750" indent="-285750">
              <a:buFontTx/>
              <a:buChar char="-"/>
            </a:pPr>
            <a:r>
              <a:rPr lang="en-US" sz="1600" dirty="0">
                <a:latin typeface="Arial" panose="020B0604020202020204" pitchFamily="34" charset="0"/>
                <a:cs typeface="Arial" panose="020B0604020202020204" pitchFamily="34" charset="0"/>
              </a:rPr>
              <a:t>Followed a Scrum-based workflow with regular sprint planning, progress reviews, and task assignments.</a:t>
            </a:r>
          </a:p>
          <a:p>
            <a:pPr marL="285750" indent="-285750">
              <a:buFontTx/>
              <a:buChar char="-"/>
            </a:pPr>
            <a:r>
              <a:rPr lang="en-US" sz="1600" dirty="0">
                <a:latin typeface="Arial" panose="020B0604020202020204" pitchFamily="34" charset="0"/>
                <a:cs typeface="Arial" panose="020B0604020202020204" pitchFamily="34" charset="0"/>
              </a:rPr>
              <a:t>Used GitHub to manage project documentation, version control, and team collaboration.</a:t>
            </a:r>
          </a:p>
          <a:p>
            <a:pPr marL="285750" indent="-285750">
              <a:buFontTx/>
              <a:buChar char="-"/>
            </a:pPr>
            <a:r>
              <a:rPr lang="en-US" sz="1600" dirty="0">
                <a:latin typeface="Arial" panose="020B0604020202020204" pitchFamily="34" charset="0"/>
                <a:cs typeface="Arial" panose="020B0604020202020204" pitchFamily="34" charset="0"/>
              </a:rPr>
              <a:t>Held frequent team meetings to coordinate development, testing, and deployment activities.</a:t>
            </a:r>
          </a:p>
        </p:txBody>
      </p:sp>
      <p:sp>
        <p:nvSpPr>
          <p:cNvPr id="8" name="TextBox 7">
            <a:extLst>
              <a:ext uri="{FF2B5EF4-FFF2-40B4-BE49-F238E27FC236}">
                <a16:creationId xmlns:a16="http://schemas.microsoft.com/office/drawing/2014/main" id="{DF34C503-E46C-93DD-1992-8B5D914B2833}"/>
              </a:ext>
            </a:extLst>
          </p:cNvPr>
          <p:cNvSpPr txBox="1"/>
          <p:nvPr/>
        </p:nvSpPr>
        <p:spPr>
          <a:xfrm>
            <a:off x="399196" y="3749040"/>
            <a:ext cx="11289884" cy="1569660"/>
          </a:xfrm>
          <a:prstGeom prst="rect">
            <a:avLst/>
          </a:prstGeom>
          <a:noFill/>
        </p:spPr>
        <p:txBody>
          <a:bodyPr wrap="square">
            <a:spAutoFit/>
          </a:bodyPr>
          <a:lstStyle/>
          <a:p>
            <a:pPr>
              <a:buNone/>
            </a:pPr>
            <a:r>
              <a:rPr lang="en-US" sz="1600" dirty="0">
                <a:latin typeface="Arial" panose="020B0604020202020204" pitchFamily="34" charset="0"/>
                <a:cs typeface="Arial" panose="020B0604020202020204" pitchFamily="34" charset="0"/>
              </a:rPr>
              <a:t>Challenge We Overcame: </a:t>
            </a:r>
          </a:p>
          <a:p>
            <a:pPr>
              <a:buNone/>
            </a:pPr>
            <a:endParaRPr lang="en-US" sz="1600" dirty="0">
              <a:latin typeface="Arial" panose="020B0604020202020204" pitchFamily="34" charset="0"/>
              <a:cs typeface="Arial" panose="020B0604020202020204" pitchFamily="34" charset="0"/>
            </a:endParaRPr>
          </a:p>
          <a:p>
            <a:pPr>
              <a:buFont typeface="Arial" panose="020B0604020202020204" pitchFamily="34" charset="0"/>
              <a:buChar char="•"/>
            </a:pPr>
            <a:r>
              <a:rPr lang="en-US" sz="1600" b="1" dirty="0">
                <a:latin typeface="Arial" panose="020B0604020202020204" pitchFamily="34" charset="0"/>
                <a:cs typeface="Arial" panose="020B0604020202020204" pitchFamily="34" charset="0"/>
              </a:rPr>
              <a:t>Challenge:</a:t>
            </a:r>
            <a:r>
              <a:rPr lang="en-US" sz="1600" dirty="0">
                <a:latin typeface="Arial" panose="020B0604020202020204" pitchFamily="34" charset="0"/>
                <a:cs typeface="Arial" panose="020B0604020202020204" pitchFamily="34" charset="0"/>
              </a:rPr>
              <a:t> Configuring and integrating Azure Virtual Machines, Active Directory, Microsoft Entra ID, and secure VPN connectivity while maintaining a secure environment. </a:t>
            </a:r>
          </a:p>
          <a:p>
            <a:pPr>
              <a:buFont typeface="Arial" panose="020B0604020202020204" pitchFamily="34" charset="0"/>
              <a:buChar char="•"/>
            </a:pPr>
            <a:r>
              <a:rPr lang="en-US" sz="1600" b="1" dirty="0">
                <a:latin typeface="Arial" panose="020B0604020202020204" pitchFamily="34" charset="0"/>
                <a:cs typeface="Arial" panose="020B0604020202020204" pitchFamily="34" charset="0"/>
              </a:rPr>
              <a:t>Solution:</a:t>
            </a:r>
            <a:r>
              <a:rPr lang="en-US" sz="1600" dirty="0">
                <a:latin typeface="Arial" panose="020B0604020202020204" pitchFamily="34" charset="0"/>
                <a:cs typeface="Arial" panose="020B0604020202020204" pitchFamily="34" charset="0"/>
              </a:rPr>
              <a:t> Through collaboration, troubleshooting, repeated testing, and instructor feedback, we successfully deployed and validated the complete infrastructure.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02920" y="320040"/>
            <a:ext cx="11155680" cy="731520"/>
          </a:xfrm>
          <a:prstGeom prst="rect">
            <a:avLst/>
          </a:prstGeom>
          <a:noFill/>
          <a:ln/>
        </p:spPr>
        <p:txBody>
          <a:bodyPr wrap="square" lIns="0" tIns="0" rIns="0" bIns="0" rtlCol="0" anchor="ctr">
            <a:normAutofit/>
          </a:bodyPr>
          <a:lstStyle/>
          <a:p>
            <a:pPr marL="0" indent="0">
              <a:buNone/>
            </a:pPr>
            <a:r>
              <a:rPr lang="en-US" sz="3200" b="1" dirty="0">
                <a:solidFill>
                  <a:srgbClr val="081E3F"/>
                </a:solidFill>
                <a:latin typeface="Arial" pitchFamily="34" charset="0"/>
                <a:ea typeface="Arial" pitchFamily="34" charset="-122"/>
                <a:cs typeface="Arial" pitchFamily="34" charset="-120"/>
              </a:rPr>
              <a:t>What's Next</a:t>
            </a:r>
            <a:endParaRPr lang="en-US" sz="3200" dirty="0"/>
          </a:p>
        </p:txBody>
      </p:sp>
      <p:sp>
        <p:nvSpPr>
          <p:cNvPr id="4" name="Text 2"/>
          <p:cNvSpPr/>
          <p:nvPr/>
        </p:nvSpPr>
        <p:spPr>
          <a:xfrm>
            <a:off x="502920" y="1120877"/>
            <a:ext cx="11155680" cy="4731283"/>
          </a:xfrm>
          <a:prstGeom prst="rect">
            <a:avLst/>
          </a:prstGeom>
          <a:noFill/>
          <a:ln/>
        </p:spPr>
        <p:txBody>
          <a:bodyPr wrap="square" lIns="0" tIns="0" rIns="0" bIns="0" rtlCol="0" anchor="t">
            <a:normAutofit/>
          </a:bodyPr>
          <a:lstStyle/>
          <a:p>
            <a:pPr marL="0" indent="0">
              <a:buNone/>
            </a:pPr>
            <a:endParaRPr lang="en-US" sz="1500" i="1" dirty="0">
              <a:solidFill>
                <a:srgbClr val="5B667E"/>
              </a:solidFill>
              <a:latin typeface="Arial" pitchFamily="34" charset="0"/>
              <a:ea typeface="Arial" pitchFamily="34" charset="-122"/>
              <a:cs typeface="Arial" pitchFamily="34" charset="-120"/>
            </a:endParaRPr>
          </a:p>
          <a:p>
            <a:pPr marL="0" indent="0">
              <a:buNone/>
            </a:pPr>
            <a:r>
              <a:rPr lang="en-US" sz="1600" dirty="0">
                <a:latin typeface="Arial" panose="020B0604020202020204" pitchFamily="34" charset="0"/>
                <a:cs typeface="Arial" panose="020B0604020202020204" pitchFamily="34" charset="0"/>
              </a:rPr>
              <a:t>Future Work:</a:t>
            </a:r>
          </a:p>
          <a:p>
            <a:pPr marL="0" indent="0">
              <a:buNone/>
            </a:pPr>
            <a:endParaRPr lang="en-US" sz="16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 Expand cloud security monitoring by integrating Microsoft Sentinel or a SIEM solution for real-time threat detection and incident response.</a:t>
            </a: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 Enhance disaster recovery with automated backups, replication, and failover capabilities to improve business continuity.</a:t>
            </a: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Strengthen endpoint security by expanding Microsoft Intune policies, automated patch management, and device compliance monitoring.</a:t>
            </a: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Scale the infrastructure to support additional clinic locations, more users, and future healthcare applications while maintaining strong security.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81E3F"/>
        </a:solidFill>
        <a:effectLst/>
      </p:bgPr>
    </p:bg>
    <p:spTree>
      <p:nvGrpSpPr>
        <p:cNvPr id="1" name=""/>
        <p:cNvGrpSpPr/>
        <p:nvPr/>
      </p:nvGrpSpPr>
      <p:grpSpPr>
        <a:xfrm>
          <a:off x="0" y="0"/>
          <a:ext cx="0" cy="0"/>
          <a:chOff x="0" y="0"/>
          <a:chExt cx="0" cy="0"/>
        </a:xfrm>
      </p:grpSpPr>
      <p:pic>
        <p:nvPicPr>
          <p:cNvPr id="2" name="Image 0" descr="assets/FIU_wordmark_horizontal_white.png"/>
          <p:cNvPicPr>
            <a:picLocks noChangeAspect="1"/>
          </p:cNvPicPr>
          <p:nvPr/>
        </p:nvPicPr>
        <p:blipFill>
          <a:blip r:embed="rId3"/>
          <a:stretch>
            <a:fillRect/>
          </a:stretch>
        </p:blipFill>
        <p:spPr>
          <a:xfrm>
            <a:off x="502920" y="457200"/>
            <a:ext cx="2011680" cy="597469"/>
          </a:xfrm>
          <a:prstGeom prst="rect">
            <a:avLst/>
          </a:prstGeom>
        </p:spPr>
      </p:pic>
      <p:sp>
        <p:nvSpPr>
          <p:cNvPr id="3" name="Text 0"/>
          <p:cNvSpPr/>
          <p:nvPr/>
        </p:nvSpPr>
        <p:spPr>
          <a:xfrm>
            <a:off x="502920" y="2468880"/>
            <a:ext cx="11155680" cy="1005840"/>
          </a:xfrm>
          <a:prstGeom prst="rect">
            <a:avLst/>
          </a:prstGeom>
          <a:noFill/>
          <a:ln/>
        </p:spPr>
        <p:txBody>
          <a:bodyPr wrap="square" lIns="0" tIns="0" rIns="0" bIns="0" rtlCol="0" anchor="ctr">
            <a:normAutofit/>
          </a:bodyPr>
          <a:lstStyle/>
          <a:p>
            <a:pPr marL="0" indent="0">
              <a:buNone/>
            </a:pPr>
            <a:r>
              <a:rPr lang="en-US" sz="4400" b="1" dirty="0">
                <a:solidFill>
                  <a:srgbClr val="FFFFFF"/>
                </a:solidFill>
                <a:latin typeface="Arial" pitchFamily="34" charset="0"/>
                <a:ea typeface="Arial" pitchFamily="34" charset="-122"/>
                <a:cs typeface="Arial" pitchFamily="34" charset="-120"/>
              </a:rPr>
              <a:t>Thank you — questions?</a:t>
            </a:r>
            <a:endParaRPr lang="en-US" sz="4400" dirty="0"/>
          </a:p>
        </p:txBody>
      </p:sp>
      <p:sp>
        <p:nvSpPr>
          <p:cNvPr id="4" name="Text 1"/>
          <p:cNvSpPr/>
          <p:nvPr/>
        </p:nvSpPr>
        <p:spPr>
          <a:xfrm>
            <a:off x="502920" y="3749040"/>
            <a:ext cx="11155680" cy="1097280"/>
          </a:xfrm>
          <a:prstGeom prst="rect">
            <a:avLst/>
          </a:prstGeom>
          <a:noFill/>
          <a:ln/>
        </p:spPr>
        <p:txBody>
          <a:bodyPr wrap="square" lIns="0" tIns="0" rIns="0" bIns="0" rtlCol="0" anchor="ctr"/>
          <a:lstStyle/>
          <a:p>
            <a:r>
              <a:rPr lang="en-US" sz="1600">
                <a:solidFill>
                  <a:srgbClr val="CADCFC"/>
                </a:solidFill>
                <a:latin typeface="Arial" pitchFamily="34" charset="0"/>
                <a:ea typeface="Arial" pitchFamily="34" charset="-122"/>
                <a:cs typeface="Arial" pitchFamily="34" charset="-120"/>
              </a:rPr>
              <a:t>Secure Clinic IT  </a:t>
            </a:r>
            <a:r>
              <a:rPr lang="en-US" sz="1600" dirty="0">
                <a:solidFill>
                  <a:srgbClr val="CADCFC"/>
                </a:solidFill>
                <a:latin typeface="Arial" pitchFamily="34" charset="0"/>
                <a:ea typeface="Arial" pitchFamily="34" charset="-122"/>
                <a:cs typeface="Arial" pitchFamily="34" charset="-120"/>
              </a:rPr>
              <a:t>·  ‹https://github.com/</a:t>
            </a:r>
            <a:r>
              <a:rPr lang="en-US" sz="1600" dirty="0" err="1">
                <a:solidFill>
                  <a:srgbClr val="CADCFC"/>
                </a:solidFill>
                <a:latin typeface="Arial" pitchFamily="34" charset="0"/>
                <a:ea typeface="Arial" pitchFamily="34" charset="-122"/>
                <a:cs typeface="Arial" pitchFamily="34" charset="-120"/>
              </a:rPr>
              <a:t>sonalililah</a:t>
            </a:r>
            <a:r>
              <a:rPr lang="en-US" sz="1600" dirty="0">
                <a:solidFill>
                  <a:srgbClr val="CADCFC"/>
                </a:solidFill>
                <a:latin typeface="Arial" pitchFamily="34" charset="0"/>
                <a:ea typeface="Arial" pitchFamily="34" charset="-122"/>
                <a:cs typeface="Arial" pitchFamily="34" charset="-120"/>
              </a:rPr>
              <a:t>/</a:t>
            </a:r>
            <a:r>
              <a:rPr lang="en-US" sz="1600" dirty="0" err="1">
                <a:solidFill>
                  <a:srgbClr val="CADCFC"/>
                </a:solidFill>
                <a:latin typeface="Arial" pitchFamily="34" charset="0"/>
                <a:ea typeface="Arial" pitchFamily="34" charset="-122"/>
                <a:cs typeface="Arial" pitchFamily="34" charset="-120"/>
              </a:rPr>
              <a:t>Secure_clinic_IT</a:t>
            </a:r>
            <a:r>
              <a:rPr lang="en-US" sz="1600" dirty="0">
                <a:solidFill>
                  <a:srgbClr val="CADCFC"/>
                </a:solidFill>
                <a:latin typeface="Arial" pitchFamily="34" charset="0"/>
                <a:ea typeface="Arial" pitchFamily="34" charset="-122"/>
                <a:cs typeface="Arial" pitchFamily="34" charset="-120"/>
              </a:rPr>
              <a:t>›</a:t>
            </a:r>
            <a:endParaRPr lang="en-US" sz="1600" dirty="0"/>
          </a:p>
          <a:p>
            <a:pPr marL="0" indent="0">
              <a:buNone/>
            </a:pPr>
            <a:r>
              <a:rPr lang="en-US" sz="1600" dirty="0">
                <a:solidFill>
                  <a:srgbClr val="CADCFC"/>
                </a:solidFill>
                <a:latin typeface="Arial" pitchFamily="34" charset="0"/>
                <a:ea typeface="Arial" pitchFamily="34" charset="-122"/>
                <a:cs typeface="Arial" pitchFamily="34" charset="-120"/>
              </a:rPr>
              <a:t>KFSCIS Capstone Program · Prof. Masoud Sadjadi · sadjadi@fiu.edu · capstone.cs.fiu.edu</a:t>
            </a:r>
            <a:endParaRPr lang="en-US" sz="1600" dirty="0"/>
          </a:p>
        </p:txBody>
      </p:sp>
      <p:sp>
        <p:nvSpPr>
          <p:cNvPr id="5" name="Text 2"/>
          <p:cNvSpPr/>
          <p:nvPr/>
        </p:nvSpPr>
        <p:spPr>
          <a:xfrm>
            <a:off x="502920" y="5120640"/>
            <a:ext cx="11155680" cy="457200"/>
          </a:xfrm>
          <a:prstGeom prst="rect">
            <a:avLst/>
          </a:prstGeom>
          <a:noFill/>
          <a:ln/>
        </p:spPr>
        <p:txBody>
          <a:bodyPr wrap="square" lIns="0" tIns="0" rIns="0" bIns="0" rtlCol="0" anchor="ctr"/>
          <a:lstStyle/>
          <a:p>
            <a:pPr marL="0" indent="0">
              <a:buNone/>
            </a:pPr>
            <a:r>
              <a:rPr lang="en-US" sz="1500" i="1" dirty="0">
                <a:solidFill>
                  <a:srgbClr val="D1A644"/>
                </a:solidFill>
                <a:latin typeface="Arial" pitchFamily="34" charset="0"/>
                <a:ea typeface="Arial" pitchFamily="34" charset="-122"/>
                <a:cs typeface="Arial" pitchFamily="34" charset="-120"/>
              </a:rPr>
              <a:t>Judges: evaluation window is now — thank you!</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279</TotalTime>
  <Words>1183</Words>
  <Application>Microsoft Office PowerPoint</Application>
  <PresentationFormat>Widescreen</PresentationFormat>
  <Paragraphs>145</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Proxima Nova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sonali mohammed</cp:lastModifiedBy>
  <cp:revision>2</cp:revision>
  <dcterms:created xsi:type="dcterms:W3CDTF">2026-07-12T20:40:28Z</dcterms:created>
  <dcterms:modified xsi:type="dcterms:W3CDTF">2026-07-15T18:59:49Z</dcterms:modified>
</cp:coreProperties>
</file>